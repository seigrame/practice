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add492a9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add492a9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add492a93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add492a93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add492a93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add492a93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b070851c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b070851c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b070851ca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b070851ca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dd492a93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dd492a93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dd492a93c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dd492a93c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add492a93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add492a93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dd492a93c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dd492a93c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add492a93c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add492a93c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dd492a93c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add492a93c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add492a93c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add492a93c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add492a93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add492a93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add492a93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add492a93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b070851ca2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b070851ca2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add492a93c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add492a93c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add492a93c_3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add492a93c_3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add492a93c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add492a93c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add492a93c_3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add492a93c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b070851ca2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b070851ca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b070851ca2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b070851ca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b070851ca2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b070851ca2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b070851ca2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b070851ca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add492a93c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add492a93c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add492a93c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add492a93c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070851ca2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b070851ca2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add492a93c_3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add492a93c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b070851ca2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b070851ca2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b070851ca2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b070851ca2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b070851ca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b070851ca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b070851ca2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b070851ca2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add492a93c_3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add492a93c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add492a93c_3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add492a93c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add492a93c_3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add492a93c_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b070851ca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b070851ca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b070851ca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b070851ca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b070851ca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b070851ca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b070851ca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b070851ca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b070851ca2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b070851ca2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ae9a3b57c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ae9a3b57c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ae9a3b57c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ae9a3b57c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ae9a3b57c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ae9a3b57c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ae9a3b57c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ae9a3b57c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ae9a3b57c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ae9a3b57c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ae9a3b57c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ae9a3b57c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ae9a3b57c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ae9a3b57c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ae9a3b57c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ae9a3b57c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e9a3b57c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e9a3b57c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ae9a3b57c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ae9a3b57c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ae9a3b57c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ae9a3b57c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ae9a3b57c4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ae9a3b57c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ae9a3b57c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ae9a3b57c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ae9a3b57c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ae9a3b57c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ae9a3b57c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ae9a3b57c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ae9a3b57c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ae9a3b57c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ae9a3b58f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ae9a3b58f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ae9a3b58f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ae9a3b58f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ae9a3b57c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ae9a3b57c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785b87529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785b87529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785b8752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785b8752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785b87529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785b87529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785b875297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785b87529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785b87529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785b87529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785b875297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785b875297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785b87529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785b87529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cloud.lightform.com" TargetMode="External"/><Relationship Id="rId4" Type="http://schemas.openxmlformats.org/officeDocument/2006/relationships/hyperlink" Target="http://cloud.lightform.com" TargetMode="External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9.xml"/><Relationship Id="rId4" Type="http://schemas.openxmlformats.org/officeDocument/2006/relationships/slide" Target="/ppt/slides/slide10.xml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uide.lightform.com/hc/en-us/articles/360047454953-Where-can-I-find-additional-video-content-for-Lightform-Creator-" TargetMode="External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motionloops.com/us/en/free-stuff/" TargetMode="External"/><Relationship Id="rId4" Type="http://schemas.openxmlformats.org/officeDocument/2006/relationships/hyperlink" Target="https://www.beeple-crap.com/" TargetMode="External"/><Relationship Id="rId5" Type="http://schemas.openxmlformats.org/officeDocument/2006/relationships/hyperlink" Target="https://pixabay.com" TargetMode="External"/><Relationship Id="rId6" Type="http://schemas.openxmlformats.org/officeDocument/2006/relationships/hyperlink" Target="https://gumroad.com/omni?fbclid=IwAR3h8aKvEGW8Z-80Sm4lTt_Gh6Cz552hF6HBKPuivD22LWdWsZEUvE_702s&amp;maxPrice=0" TargetMode="External"/><Relationship Id="rId7" Type="http://schemas.openxmlformats.org/officeDocument/2006/relationships/hyperlink" Target="https://vimeo.com/user2777466?fbclid=IwAR1pemJz9sF-5aKSsx1EDru_naPD1u4iryqU63uo9f77naOfUBFIpRn3ewo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uide.lightform.com/hc/en-us/articles/360008990533#h_908897122211542657169806" TargetMode="External"/><Relationship Id="rId4" Type="http://schemas.openxmlformats.org/officeDocument/2006/relationships/image" Target="../media/image4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s3-us-west-2.amazonaws.com/software.webservices.lumenous3d.com/TouchOSC/Lightform-0.9.6.touchosc" TargetMode="External"/><Relationship Id="rId4" Type="http://schemas.openxmlformats.org/officeDocument/2006/relationships/hyperlink" Target="https://s3-us-west-2.amazonaws.com/software.webservices.lumenous3d.com/TouchOSC/Lightform-0.9.6.touchosc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hexler.net/docs/touchosc-configuration-layout" TargetMode="External"/><Relationship Id="rId4" Type="http://schemas.openxmlformats.org/officeDocument/2006/relationships/hyperlink" Target="https://hexler.net/docs/touchosc-configuration-layout" TargetMode="External"/><Relationship Id="rId5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hexler.net/products/touchosc#downloads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2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8.png"/><Relationship Id="rId4" Type="http://schemas.openxmlformats.org/officeDocument/2006/relationships/image" Target="../media/image5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Relationship Id="rId6" Type="http://schemas.openxmlformats.org/officeDocument/2006/relationships/image" Target="../media/image5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://www.youtube.com/watch?v=WCSelfHjBew" TargetMode="External"/><Relationship Id="rId4" Type="http://schemas.openxmlformats.org/officeDocument/2006/relationships/image" Target="../media/image5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Lightform 가이드북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865875" y="710475"/>
            <a:ext cx="7304400" cy="3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계정및계정설정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LFC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ID:</a:t>
            </a:r>
            <a:r>
              <a:rPr lang="ko" sz="1100" u="sng">
                <a:solidFill>
                  <a:srgbClr val="0000FF"/>
                </a:solidFill>
              </a:rPr>
              <a:t>opticlighttwp01@gmail.com</a:t>
            </a:r>
            <a:r>
              <a:rPr lang="ko" sz="1100">
                <a:solidFill>
                  <a:schemeClr val="dk1"/>
                </a:solidFill>
              </a:rPr>
              <a:t> ps:fkdlxmvha01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LF2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ID:</a:t>
            </a:r>
            <a:r>
              <a:rPr lang="ko" sz="1100" u="sng">
                <a:solidFill>
                  <a:srgbClr val="0000FF"/>
                </a:solidFill>
              </a:rPr>
              <a:t>opticlighttwp02@gmail.com</a:t>
            </a:r>
            <a:r>
              <a:rPr lang="ko" sz="1100">
                <a:solidFill>
                  <a:schemeClr val="dk1"/>
                </a:solidFill>
              </a:rPr>
              <a:t> ps:fkdlxmvha02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구글 계정의 아이디와 비밀번호도 동일합니다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라이트폼 기기는 한 계정당 하나의 기기만 등록이 가능합니다.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658675" y="503250"/>
            <a:ext cx="7452600" cy="4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라이트폼 기기 등록하는 법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1. ‘</a:t>
            </a:r>
            <a:r>
              <a:rPr lang="ko" sz="1100" u="sng">
                <a:solidFill>
                  <a:srgbClr val="80008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cloud.lightform.com</a:t>
            </a:r>
            <a:r>
              <a:rPr lang="ko" sz="1100">
                <a:solidFill>
                  <a:schemeClr val="dk1"/>
                </a:solidFill>
              </a:rPr>
              <a:t>’로 이동 및 로그인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2. ‘register Devices'를 클릭하세요.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3. 등록할 기기 제품을 선택하세요.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4. 그림이 안내하는 곳에 시리얼 코드와 기기 이름이 있으니 하단에 작성 후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등록해주세요.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등록된 라이트폼 기기 등록해제하는 법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1. ‘</a:t>
            </a:r>
            <a:r>
              <a:rPr lang="ko" sz="1100" u="sng">
                <a:solidFill>
                  <a:srgbClr val="80008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cloud.lightform.com</a:t>
            </a:r>
            <a:r>
              <a:rPr lang="ko" sz="1100">
                <a:solidFill>
                  <a:schemeClr val="dk1"/>
                </a:solidFill>
              </a:rPr>
              <a:t>’로 이동 및 로그인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2. 등록해제 할 디바이스를 클릭하세요.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3. ‘remove device from account’를 눌러 등록 해제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1325" y="241100"/>
            <a:ext cx="3154996" cy="46512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5"/>
          <p:cNvCxnSpPr/>
          <p:nvPr/>
        </p:nvCxnSpPr>
        <p:spPr>
          <a:xfrm flipH="1" rot="10800000">
            <a:off x="2914875" y="1665125"/>
            <a:ext cx="3235200" cy="2197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5"/>
          <p:cNvCxnSpPr/>
          <p:nvPr/>
        </p:nvCxnSpPr>
        <p:spPr>
          <a:xfrm>
            <a:off x="2560650" y="1502350"/>
            <a:ext cx="4262700" cy="1095300"/>
          </a:xfrm>
          <a:prstGeom prst="curvedConnector3">
            <a:avLst>
              <a:gd fmla="val 74025" name="adj1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5"/>
          <p:cNvSpPr/>
          <p:nvPr/>
        </p:nvSpPr>
        <p:spPr>
          <a:xfrm>
            <a:off x="6150100" y="1607350"/>
            <a:ext cx="2449200" cy="512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856275" y="2521525"/>
            <a:ext cx="1034700" cy="2613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73825" y="96200"/>
            <a:ext cx="4417200" cy="4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91425" spcFirstLastPara="1" rIns="91425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페어링 마법사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라이트폼 기기를 와이파이로 페어링 하려면 기기에 직접 페어링해서 기기의 와이파이를 연결해야 합니다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페어링 워크플로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1.디바이스 전원을 켜고, Lightform creator를 엽니다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2. 프로그램 실행시 처음화면에 있는 pair device를 클릭합니다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3. 페어링 할 디바이스에 해당하는 아이콘을 선택합니다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1026" y="763100"/>
            <a:ext cx="4604325" cy="37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4000" y="0"/>
            <a:ext cx="5201575" cy="29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900" y="2953500"/>
            <a:ext cx="3669200" cy="204402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495225" y="1535275"/>
            <a:ext cx="3247500" cy="25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4.기기를 페어링모드로 전환시킬려면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LF2일때는 리모콘의 뒤로가기 버튼을 3번 누르고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LFC일때는 전원 버튼을 3번 빠르게 눌러주면 페어링 모드로 전환됩니다.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438650" y="1054200"/>
            <a:ext cx="38841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4. 컴퓨터 와이파이 리스트에서 디바이스의 이름과 동일한 와이파이에 연결합니다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5. 라이트폼 자체 Wifi 비밀번호 기본값은 lightform입니다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425" y="102875"/>
            <a:ext cx="30157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421850" y="325625"/>
            <a:ext cx="5794800" cy="41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6</a:t>
            </a:r>
            <a:r>
              <a:rPr lang="ko" sz="1000">
                <a:solidFill>
                  <a:schemeClr val="dk1"/>
                </a:solidFill>
              </a:rPr>
              <a:t>. 몇 초 후, lightform creator에 Wi-Fi리스트가 뜹니다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7. 사용하려는 Wi-Fi를 선택하고 Wi-Fi 비밀번호를 입력 후  pair버튼을 누릅니다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8. 컴퓨터에서 lightform과 연결된 Wi-Fi로 다시 접속하면 몇 분 내에 네트워크로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성공적으로 페어링이 완료됐다는 메세지가 나옵니다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9. online 또는 connecting이 뜨면 성공적으로 연결이 된 것입니다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025" y="779525"/>
            <a:ext cx="4028975" cy="335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266425" y="614250"/>
            <a:ext cx="4356900" cy="4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시작하기 전에</a:t>
            </a:r>
            <a:r>
              <a:rPr lang="ko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1. 테스트 카드를 켜서 초점이 맞는지 확인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2. </a:t>
            </a:r>
            <a:r>
              <a:rPr lang="ko" u="sng">
                <a:solidFill>
                  <a:schemeClr val="hlink"/>
                </a:solidFill>
                <a:hlinkClick action="ppaction://hlinksldjump" r:id="rId3"/>
              </a:rPr>
              <a:t>스캔 설정</a:t>
            </a:r>
            <a:r>
              <a:rPr lang="ko">
                <a:solidFill>
                  <a:schemeClr val="dk1"/>
                </a:solidFill>
              </a:rPr>
              <a:t>에서 설정하기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3. 스캔 버튼을 눌러 스캔 시작(스캔 중에는 아무것도 움직이면 안됩니다.)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4. 스캔된 이미지를 </a:t>
            </a:r>
            <a:r>
              <a:rPr lang="ko" u="sng">
                <a:solidFill>
                  <a:schemeClr val="hlink"/>
                </a:solidFill>
                <a:hlinkClick action="ppaction://hlinksldjump" r:id="rId4"/>
              </a:rPr>
              <a:t>스캔 속성</a:t>
            </a:r>
            <a:r>
              <a:rPr lang="ko">
                <a:solidFill>
                  <a:schemeClr val="dk1"/>
                </a:solidFill>
              </a:rPr>
              <a:t>으로 편집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9500" y="173338"/>
            <a:ext cx="3120725" cy="47968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" name="Google Shape;101;p20"/>
          <p:cNvSpPr txBox="1"/>
          <p:nvPr/>
        </p:nvSpPr>
        <p:spPr>
          <a:xfrm>
            <a:off x="5169900" y="2544750"/>
            <a:ext cx="155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1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5414750" y="2652125"/>
            <a:ext cx="2662200" cy="20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/>
        </p:nvSpPr>
        <p:spPr>
          <a:xfrm>
            <a:off x="792000" y="771750"/>
            <a:ext cx="42036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</a:rPr>
              <a:t>스캔설정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HDR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2 Exposures가 추천설정, 3 Exposures를 선택할 경우 스캔시간이 늘어나지만 더 좋은 결과를 낼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Scan Settings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카메라 마스크 : 스캔 알고리즘이 초점을 맞출 카메라 이미지를 수동으로 선택. 카메라 마스크 외부의 나머지는 무시합니다(장면에 반짝이거나 스캔에 문제있는 기타유형이 포함되어있는경우 유용)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노이즈 감소 : 최종 스캔 결과에서 보정을 해줌 반짝이는 장면에 유용하지만 구멍이 더 많은 스캔을 만들어 낼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스무딩 : 스무딩 체크박스를 체크하면 스캔이미지 품질이 향상되나,  얇거나 반짝이는 재질이 있는 장면은 왜곡이 있을 수 있습니다.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875" y="811413"/>
            <a:ext cx="4148450" cy="352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/>
        </p:nvSpPr>
        <p:spPr>
          <a:xfrm>
            <a:off x="792000" y="771750"/>
            <a:ext cx="56253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</a:rPr>
              <a:t>스캔속성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스캔속성은 edit→scan properties를 누르면 아트보드 우측에 속성(Properties)창이 나타납니다.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Color/Disparity : rgb이미지와 disparity맵 전환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Opacity : 스캔의 투명도 조절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Brightness : 스캔의 밝기 조절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Hole Fill : 구멍 채우기 양 조절 프로젝터와 카메라에서 둘 다 볼 수 없는 장면이 구멍으로 나타남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슬라이더를 조절하면 필요한 구멍 채우기 양을 조절,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슬라이더를 최소화하면 구멍 수는 증가하지만 스캔은 정확해집니다.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Effect Edges : 스캔 이미지의 가장자리 조절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7400" y="331525"/>
            <a:ext cx="2129375" cy="46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/>
        </p:nvSpPr>
        <p:spPr>
          <a:xfrm>
            <a:off x="431975" y="673075"/>
            <a:ext cx="40785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환경설정에 대한 추가 설명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상단의 메뉴에서 Edit - Preference를 클릭하면 환경설정 메뉴가 나타납니다.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</a:rPr>
              <a:t>아트보드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1.Playback Renderer Frame Rate -이 설정은 실시간 렌더링 프레임 속도를 지정합니다. 더 높은 값을 선택하면 CPU 및 GPU 사용률이 증가하는 대신 렌더링 및 마우스 상호 작용의 유동성이 증가합니다.</a:t>
            </a:r>
            <a:endParaRPr sz="11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ko" sz="900">
                <a:solidFill>
                  <a:schemeClr val="dk1"/>
                </a:solidFill>
              </a:rPr>
              <a:t>30 미만</a:t>
            </a:r>
            <a:br>
              <a:rPr b="1"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 중저가 형 노트북을 사용 중이고 응용 프로그램의 응답 속도가 약간 느리면 이 값을 20으로 낮추는 것이 도움이 될 수 있습니다.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ko" sz="900">
                <a:solidFill>
                  <a:schemeClr val="dk1"/>
                </a:solidFill>
              </a:rPr>
              <a:t>30</a:t>
            </a:r>
            <a:br>
              <a:rPr b="1"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 기본값입니다.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ko" sz="900">
                <a:solidFill>
                  <a:schemeClr val="dk1"/>
                </a:solidFill>
              </a:rPr>
              <a:t>30보다 큼</a:t>
            </a:r>
            <a:br>
              <a:rPr b="1"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 일반적으로이 값을 30 이상으로 설정하는 것은 필요하지 않지만 고급 시스템을 사용하는 경우 유동성이 향상됩니다.</a:t>
            </a:r>
            <a:br>
              <a:rPr lang="ko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0600" y="1017025"/>
            <a:ext cx="4279500" cy="3351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/>
        </p:nvSpPr>
        <p:spPr>
          <a:xfrm>
            <a:off x="371700" y="462100"/>
            <a:ext cx="474900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2. Load and Decompress Imported Video Files From Memory -이 설정은 재생하기 전에 메모리에 완전히 로드해야하는 비디오 자산 파일 (압축 된 형식)을 나타냅니다. 비디오 자산 파일이 메모리에서 압축 해제되면 일반적으로 파일 시스템 내의 원래 위치에서 재생하는 것보다 훨씬 빠르며 더 부드러운 재생 성능을 제공합니다. 파일이 SSD가 아닌 기계식 하드 드라이브에 저장된 경우 특히 그렇습니다 . 일반적으로 시스템에있는 RAM의 크기에 비해 작은 비디오만 완전히 로드하려고 합니다.</a:t>
            </a:r>
            <a:endParaRPr sz="11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ko" sz="900">
                <a:solidFill>
                  <a:schemeClr val="dk1"/>
                </a:solidFill>
              </a:rPr>
              <a:t>안 함</a:t>
            </a:r>
            <a:br>
              <a:rPr b="1"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 -이 기본 설정은 메모리가 부족한 (~ 8GB RAM) 컴퓨터 에 가장 적합 합니다. 비디오는 파일 시스템의 원래 위치에서 재생됩니다.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ko" sz="900">
                <a:solidFill>
                  <a:schemeClr val="dk1"/>
                </a:solidFill>
              </a:rPr>
              <a:t>이하</a:t>
            </a:r>
            <a:br>
              <a:rPr b="1"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 -이 설정을 사용하면 메모리에 완전히 로드되는 비디오 파일의 크기 제한을 선택할 수 있습니다. 예를 들어 "50MB" 를 선택하면 크기가 50MB 이하인 비디오 자산 파일만 메모리에 완전히 로드됩니다.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ko" sz="900">
                <a:solidFill>
                  <a:schemeClr val="dk1"/>
                </a:solidFill>
              </a:rPr>
              <a:t>항상</a:t>
            </a:r>
            <a:br>
              <a:rPr b="1"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 -모든 비디오 자산 파일이 메모리에 완전히로드됩니다. 이것은 사용중인 비디오의 크기에 비해 RAM (32GB 이상) 이 많은 컴퓨터를 사용하는 경우 유용한 편리한 설정입니다 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LFC와 페어링 후, 대상이 될 오브젝트를 스캔하면 카메라 영역에 테스트 카드가 출력되고, 테스트 카드에 해당하는 부분이 약 1분 가량 다양한 패턴이미지로 해당 오브젝트를 스캔하여 각 고유 패턴에 대한 사진을 찍어 각 픽셀을 식별하는데 도움을 줍니다.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0700" y="1074037"/>
            <a:ext cx="3759926" cy="29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/>
        </p:nvSpPr>
        <p:spPr>
          <a:xfrm>
            <a:off x="792000" y="771750"/>
            <a:ext cx="75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 txBox="1"/>
          <p:nvPr/>
        </p:nvSpPr>
        <p:spPr>
          <a:xfrm>
            <a:off x="740075" y="222025"/>
            <a:ext cx="7415400" cy="42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마스크 및 표면 만들기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스캔한 이미지 또는 빈 화면에서 이펙트를 추가하기 위하여 만드는 개체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대부분의 콘텐츠 제작 소프트웨어에서 콘텐츠와 개체는 사용자의 선호도에 따라 임의의 위치에 생성되는 경우가 많으며 마스크는 선택 사항입니다. 투영 된 증강 현실에서 콘텐츠의 위치와 방향은 증강되는 장면에 따라 미리 결정됩니다.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Lightform Creator 에서 스캔 이미지 위에 표면을 만든 다음 표면에 콘텐츠를 적용합니다. 표면은 펜, 모양, 마술봉, 빠른 선택 또는 브러시 도구 와 같은 마스크 도구</a:t>
            </a:r>
            <a:r>
              <a:rPr lang="ko" sz="1100">
                <a:solidFill>
                  <a:schemeClr val="dk1"/>
                </a:solidFill>
              </a:rPr>
              <a:t>를</a:t>
            </a:r>
            <a:r>
              <a:rPr lang="ko" sz="1100">
                <a:solidFill>
                  <a:schemeClr val="dk1"/>
                </a:solidFill>
              </a:rPr>
              <a:t> 사용하여 만듭니다. 표면을 생성하면 실제로 증강하려는 현실 세계의 일부를 가릴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Surface - Lightform Creator에서 이미지 , 비디오 및 효과 와 같은 콘텐츠 는 Surface 내에 있습니다. Surface는 실제 장면과 일치하도록 내부에 배치 된 콘텐츠를 마스킹하고 왜곡하는 스마트 그룹처럼 작동합니다.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사용자는 3D 도구를 사용하거나 장면의 3D 모델을 미리 생성 할 필요없이 정렬되고 원근 교정 된 픽셀에 디지털 콘텐츠를 빠르게 확대하거나 추가 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/>
        </p:nvSpPr>
        <p:spPr>
          <a:xfrm>
            <a:off x="592050" y="562450"/>
            <a:ext cx="7585800" cy="3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편집모드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0000"/>
                </a:solidFill>
              </a:rPr>
              <a:t>Edit(v)</a:t>
            </a:r>
            <a:r>
              <a:rPr lang="ko" sz="1100">
                <a:solidFill>
                  <a:schemeClr val="dk1"/>
                </a:solidFill>
              </a:rPr>
              <a:t> - 영역을 구성하는 Point를 추가/제거 하거나 위치를 조절 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38761D"/>
                </a:solidFill>
              </a:rPr>
              <a:t>move(m)</a:t>
            </a:r>
            <a:r>
              <a:rPr lang="ko" sz="1100">
                <a:solidFill>
                  <a:srgbClr val="38761D"/>
                </a:solidFill>
              </a:rPr>
              <a:t> </a:t>
            </a:r>
            <a:r>
              <a:rPr lang="ko" sz="1100">
                <a:solidFill>
                  <a:schemeClr val="dk1"/>
                </a:solidFill>
              </a:rPr>
              <a:t>- 지정된 영역을 이동 시킬 수 있습니다.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rgbClr val="0000FF"/>
                </a:solidFill>
              </a:rPr>
              <a:t>Structure(s)</a:t>
            </a:r>
            <a:r>
              <a:rPr lang="ko" sz="1100">
                <a:solidFill>
                  <a:schemeClr val="dk1"/>
                </a:solidFill>
              </a:rPr>
              <a:t> -선택된 Surface의 연결된 부분 혹은 메쉬 왜곡을 수정 할 수 있습니다. 한 번에 하나의 Surface만 선택할 수 있으며, 모서리가 있는 녹색 경계 상자와 4개의 코너 핀이 선택한 표면 주위에 나타납니다.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코너 핀 - Ctrl키를 누른채 핀 포인트를 드래그 하면 마스크 영역 전체가 회전하게 되며, 속성창 아래 부분에 Fit Structure to Masks 버튼을 눌러 변경 사항등을 초기화 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Mesh Warp - 구조체의 어디든지 더블 클릭하면 메쉬 워프 그리드가 나타납니다. 이를 이동해 왜곡된 부분을 만들거나 수정할 수 있고, 드래그나, Shift + Click으로 여러개의 정점을 동시에 편집할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350" y="737075"/>
            <a:ext cx="990722" cy="40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6"/>
          <p:cNvSpPr/>
          <p:nvPr/>
        </p:nvSpPr>
        <p:spPr>
          <a:xfrm>
            <a:off x="1756725" y="780750"/>
            <a:ext cx="325500" cy="318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/>
          <p:nvPr/>
        </p:nvSpPr>
        <p:spPr>
          <a:xfrm>
            <a:off x="2122500" y="780750"/>
            <a:ext cx="283200" cy="318300"/>
          </a:xfrm>
          <a:prstGeom prst="rect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/>
          <p:nvPr/>
        </p:nvSpPr>
        <p:spPr>
          <a:xfrm>
            <a:off x="2445975" y="780750"/>
            <a:ext cx="283200" cy="3183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마스킹 도구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0000"/>
                </a:solidFill>
              </a:rPr>
              <a:t>펜 모양(p)</a:t>
            </a:r>
            <a:r>
              <a:rPr lang="ko" sz="1100">
                <a:solidFill>
                  <a:schemeClr val="dk1"/>
                </a:solidFill>
              </a:rPr>
              <a:t> - 표현할 범위의 꼭지점에 해당하는 점을 찍습니다. 점을 찍으면 자동으로 선이 연결되고, Ctrl키를 누르고 선을 찍으면 추가적으로 점을 생성해 곡선에 해당하는 부분을 표현할 수 있으며, 이렇게 만들어진 영역은 이펙트를 줄 범위로 지정 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6B26B"/>
                </a:solidFill>
              </a:rPr>
              <a:t>사각형 (r)</a:t>
            </a:r>
            <a:r>
              <a:rPr lang="ko" sz="1100">
                <a:solidFill>
                  <a:schemeClr val="dk1"/>
                </a:solidFill>
              </a:rPr>
              <a:t> - Ctrl+ Drag키를 사용해 사각형 범위의 영역을 지정합니다. Ctrl+Shift+Drag키를 누르고 범위를 잡으면 정사각형으로 만들어집니다.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38761D"/>
                </a:solidFill>
              </a:rPr>
              <a:t>마술봉 (w)</a:t>
            </a:r>
            <a:r>
              <a:rPr lang="ko" sz="1100">
                <a:solidFill>
                  <a:srgbClr val="38761D"/>
                </a:solidFill>
              </a:rPr>
              <a:t> </a:t>
            </a:r>
            <a:r>
              <a:rPr lang="ko" sz="1100">
                <a:solidFill>
                  <a:schemeClr val="dk1"/>
                </a:solidFill>
              </a:rPr>
              <a:t>- 선택된 픽셀과 그 주변의 유사한 명암을 가진 부분을 그룹으로 묶어 영역으로 지정합니다.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155CC"/>
                </a:solidFill>
              </a:rPr>
              <a:t>매직 브러쉬(y)</a:t>
            </a:r>
            <a:r>
              <a:rPr lang="ko" sz="1100">
                <a:solidFill>
                  <a:schemeClr val="dk1"/>
                </a:solidFill>
              </a:rPr>
              <a:t>- RGB 정보에 연속성이있는 이미지 부분을 포함하도록 선택 획이 자동으로 확장됩니다.</a:t>
            </a:r>
            <a:endParaRPr b="1" sz="1100">
              <a:solidFill>
                <a:srgbClr val="1155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800080"/>
                </a:solidFill>
              </a:rPr>
              <a:t>브러쉬(b)</a:t>
            </a:r>
            <a:r>
              <a:rPr lang="ko" sz="1100">
                <a:solidFill>
                  <a:schemeClr val="dk1"/>
                </a:solidFill>
              </a:rPr>
              <a:t>- 영역을 칠하여 자기가 원하는 영역을 선택할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6000" y="897800"/>
            <a:ext cx="191452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/>
          <p:nvPr/>
        </p:nvSpPr>
        <p:spPr>
          <a:xfrm>
            <a:off x="2346200" y="950263"/>
            <a:ext cx="255600" cy="36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/>
          <p:nvPr/>
        </p:nvSpPr>
        <p:spPr>
          <a:xfrm>
            <a:off x="2699525" y="950263"/>
            <a:ext cx="255600" cy="361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/>
          <p:nvPr/>
        </p:nvSpPr>
        <p:spPr>
          <a:xfrm>
            <a:off x="3093050" y="950263"/>
            <a:ext cx="255600" cy="3618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/>
          <p:nvPr/>
        </p:nvSpPr>
        <p:spPr>
          <a:xfrm>
            <a:off x="3880100" y="950250"/>
            <a:ext cx="255600" cy="361800"/>
          </a:xfrm>
          <a:prstGeom prst="rect">
            <a:avLst/>
          </a:prstGeom>
          <a:noFill/>
          <a:ln cap="flat" cmpd="sng" w="28575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3486575" y="950238"/>
            <a:ext cx="255600" cy="361800"/>
          </a:xfrm>
          <a:prstGeom prst="rect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0008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/>
        </p:nvSpPr>
        <p:spPr>
          <a:xfrm>
            <a:off x="972000" y="482200"/>
            <a:ext cx="7200000" cy="43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Fit accuracy</a:t>
            </a:r>
            <a:r>
              <a:rPr b="1" lang="ko" sz="1500">
                <a:solidFill>
                  <a:schemeClr val="dk1"/>
                </a:solidFill>
              </a:rPr>
              <a:t>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0000"/>
                </a:solidFill>
              </a:rPr>
              <a:t>그림에 표시된 툴</a:t>
            </a:r>
            <a:r>
              <a:rPr lang="ko" sz="1100">
                <a:solidFill>
                  <a:schemeClr val="dk1"/>
                </a:solidFill>
              </a:rPr>
              <a:t>로 마스크를 생성한 경우 선택할 수 있는 옵션입니다.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마스크가 생성되면 위와 같은 옵션이 나타나며, 각 옵션에 대한 설명은 아래와 같습니다.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Tolerance(허용치) - </a:t>
            </a:r>
            <a:r>
              <a:rPr lang="ko" sz="1100">
                <a:solidFill>
                  <a:srgbClr val="202124"/>
                </a:solidFill>
                <a:highlight>
                  <a:srgbClr val="FFFFFF"/>
                </a:highlight>
              </a:rPr>
              <a:t>클릭한 부분의 값을 기준으로 하여 </a:t>
            </a:r>
            <a:r>
              <a:rPr b="1" lang="ko" sz="1100">
                <a:solidFill>
                  <a:srgbClr val="202124"/>
                </a:solidFill>
                <a:highlight>
                  <a:srgbClr val="FFFFFF"/>
                </a:highlight>
              </a:rPr>
              <a:t>Tolerance</a:t>
            </a:r>
            <a:r>
              <a:rPr lang="ko" sz="1100">
                <a:solidFill>
                  <a:srgbClr val="202124"/>
                </a:solidFill>
                <a:highlight>
                  <a:srgbClr val="FFFFFF"/>
                </a:highlight>
              </a:rPr>
              <a:t>의 입력값을 +, - 한 값을 모두 같은 영역으로 인식합니다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Color/Disparity - 색상맵/ 깊이맵을 기준으로 영역을 지정할 것인지 묻는 옵션입니다.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Connected 체크박스 -  연속성을 가진 부분만 영역을 지정할 것인지 여부를 묻는 옵션입니다.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옵션을 선택하고 </a:t>
            </a:r>
            <a:r>
              <a:rPr b="1" lang="ko" sz="1100">
                <a:solidFill>
                  <a:srgbClr val="FF0000"/>
                </a:solidFill>
              </a:rPr>
              <a:t>Create Surface</a:t>
            </a:r>
            <a:r>
              <a:rPr lang="ko" sz="1100">
                <a:solidFill>
                  <a:schemeClr val="dk1"/>
                </a:solidFill>
              </a:rPr>
              <a:t> 버튼을 눌러 마스크를 확정하면. 아래와 같은 상자가 나타납니다.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rgbClr val="FF0000"/>
                </a:solidFill>
              </a:rPr>
              <a:t>이 슬라이더</a:t>
            </a:r>
            <a:r>
              <a:rPr lang="ko" sz="1100">
                <a:solidFill>
                  <a:schemeClr val="dk1"/>
                </a:solidFill>
              </a:rPr>
              <a:t>는 마스크와 생성 된 곡선 사이의 정확도를 조정합니다. 값이 클수록 표면에 더 많은 정점이 만들어지고 더 정확한 범위를 가집니다.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rgbClr val="1155CC"/>
                </a:solidFill>
              </a:rPr>
              <a:t>Done</a:t>
            </a:r>
            <a:r>
              <a:rPr lang="ko" sz="1100">
                <a:solidFill>
                  <a:schemeClr val="dk1"/>
                </a:solidFill>
              </a:rPr>
              <a:t>을 눌러 마스크를 완성하면 콘텐츠를 원활하게 추가 할 수 있도록 Surface가 자동으로 생성됩니다.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Surface 내부의 각 콘텐츠 요소에는 자체 레이어가 있지만 부모 Surface의 동일한 마스크를 공유합니다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925" y="619338"/>
            <a:ext cx="191452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/>
          <p:nvPr/>
        </p:nvSpPr>
        <p:spPr>
          <a:xfrm>
            <a:off x="3274975" y="686950"/>
            <a:ext cx="1105200" cy="33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775" y="1361750"/>
            <a:ext cx="6002430" cy="4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6775" y="3397238"/>
            <a:ext cx="3381545" cy="466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/>
          <p:nvPr/>
        </p:nvSpPr>
        <p:spPr>
          <a:xfrm>
            <a:off x="5314275" y="1387025"/>
            <a:ext cx="944400" cy="416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8"/>
          <p:cNvSpPr/>
          <p:nvPr/>
        </p:nvSpPr>
        <p:spPr>
          <a:xfrm>
            <a:off x="1197175" y="3422400"/>
            <a:ext cx="1328700" cy="416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/>
          <p:nvPr/>
        </p:nvSpPr>
        <p:spPr>
          <a:xfrm>
            <a:off x="2883175" y="3422400"/>
            <a:ext cx="799800" cy="416400"/>
          </a:xfrm>
          <a:prstGeom prst="rect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콘텐츠 추가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FF0000"/>
                </a:solidFill>
              </a:rPr>
              <a:t>텍스트(T)</a:t>
            </a:r>
            <a:r>
              <a:rPr b="1" lang="ko" sz="1100">
                <a:solidFill>
                  <a:schemeClr val="dk1"/>
                </a:solidFill>
              </a:rPr>
              <a:t> - </a:t>
            </a:r>
            <a:r>
              <a:rPr lang="ko" sz="1100">
                <a:solidFill>
                  <a:schemeClr val="dk1"/>
                </a:solidFill>
              </a:rPr>
              <a:t>텍스트를 입력할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Asset Browser(Ctrl + P) - 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Asset Browser를 선택하면 Lightform Creator의 오른쪽에서 서랍이 미끄러져 나옵니다. 모든 에셋은 이 에셋 브라우저에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Project Assets/ Built-in Assets/ Stock Assets 3개의 탭이 존재합니다.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155CC"/>
                </a:solidFill>
              </a:rPr>
              <a:t>Project Assets</a:t>
            </a:r>
            <a:r>
              <a:rPr b="1" lang="ko" sz="1100">
                <a:solidFill>
                  <a:schemeClr val="dk1"/>
                </a:solidFill>
              </a:rPr>
              <a:t> - </a:t>
            </a:r>
            <a:r>
              <a:rPr lang="ko" sz="1100">
                <a:solidFill>
                  <a:schemeClr val="dk1"/>
                </a:solidFill>
              </a:rPr>
              <a:t>외부에서 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가져온 미디어 (비디오 또는 이미지)를 프로젝트에 추가 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 u="sng">
                <a:solidFill>
                  <a:schemeClr val="hlink"/>
                </a:solidFill>
                <a:hlinkClick r:id="rId3"/>
              </a:rPr>
              <a:t>https://guide.lightform.com/hc/en-us/articles/360047454953-Where-can-I-find-additional-video-content-for-Lightform-Creator-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위의 주소는 Lightform Creator로 가져올 수있는 추가 리소스를 제공하는 홈페이지 목록입니다. 일부는 무료 및 일부는 유료입니다.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7425" y="875575"/>
            <a:ext cx="1236044" cy="4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/>
          <p:nvPr/>
        </p:nvSpPr>
        <p:spPr>
          <a:xfrm>
            <a:off x="2456725" y="928138"/>
            <a:ext cx="255600" cy="36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/>
          <p:nvPr/>
        </p:nvSpPr>
        <p:spPr>
          <a:xfrm>
            <a:off x="3224750" y="928150"/>
            <a:ext cx="303000" cy="361800"/>
          </a:xfrm>
          <a:prstGeom prst="rect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추가 리소스를 제공하는 홈페이지 중 무료로 사용 가능한 곳 목록입니다.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u="sng">
                <a:solidFill>
                  <a:schemeClr val="hlink"/>
                </a:solidFill>
                <a:hlinkClick r:id="rId3"/>
              </a:rPr>
              <a:t>https://www.motionloops.com/us/en/free-stuff/</a:t>
            </a:r>
            <a:r>
              <a:rPr lang="ko" sz="1100">
                <a:solidFill>
                  <a:schemeClr val="dk1"/>
                </a:solidFill>
              </a:rPr>
              <a:t> - 회원가입이 필요하며 Free Stuff 탭에 가면 일정 기간동안 무료로 배포하는 에셋을 받을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Pal /NTSC/HD1080 최대 3가지 타입의 리소스를 제공합니다.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u="sng">
                <a:solidFill>
                  <a:schemeClr val="hlink"/>
                </a:solidFill>
                <a:hlinkClick r:id="rId4"/>
              </a:rPr>
              <a:t>https://www.beeple-crap.com/</a:t>
            </a:r>
            <a:r>
              <a:rPr lang="ko" sz="1100">
                <a:solidFill>
                  <a:schemeClr val="dk1"/>
                </a:solidFill>
              </a:rPr>
              <a:t> - Vj Loops탭으로 이동해서 밑으로 내리면 FREE INDIVIDUAL CLIPS이 보이는데, 원하는 리소스를 클릭하면 Vimeo로 연결되며, 무료로 다운로드가 가능합니다.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u="sng">
                <a:solidFill>
                  <a:schemeClr val="hlink"/>
                </a:solidFill>
                <a:hlinkClick r:id="rId5"/>
              </a:rPr>
              <a:t>https://pixabay.com</a:t>
            </a:r>
            <a:r>
              <a:rPr lang="ko" sz="1100">
                <a:solidFill>
                  <a:schemeClr val="dk1"/>
                </a:solidFill>
              </a:rPr>
              <a:t>/ - 회원가입이 필요하며, 무료로 사용가능한 리소스들을 제공합니다.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u="sng">
                <a:solidFill>
                  <a:schemeClr val="hlink"/>
                </a:solidFill>
                <a:hlinkClick r:id="rId6"/>
              </a:rPr>
              <a:t>https://gumroad.com/omni?fbclid=IwAR3h8aKvEGW8Z-80Sm4lTt_Gh6Cz552hF6HBKPuivD22LWdWsZEUvE_702s&amp;maxPrice=0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사용자가 원하는만큼 지불하는 형식이며, 무료로도 사용이 가능합니다.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u="sng">
                <a:solidFill>
                  <a:schemeClr val="hlink"/>
                </a:solidFill>
                <a:hlinkClick r:id="rId7"/>
              </a:rPr>
              <a:t>https://vimeo.com/user2777466?fbclid=IwAR1pemJz9sF-5aKSsx1EDru_naPD1u4iryqU63uo9f77naOfUBFIpRn3ewo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Catmac의 Vimeo입니다. 무료로 Vj Loops를 받을 수 있습니다.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/>
        </p:nvSpPr>
        <p:spPr>
          <a:xfrm>
            <a:off x="792000" y="771750"/>
            <a:ext cx="75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Lightform Creator는 다음 비디오 및 이미지 파일 유형을 지원합니다.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1538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지원되지 않음-Windows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에서는 네트워크 드라이브의 파일을 허용 할 수 없습니다. Lightform Creator로 가져 오기 전에 파일을 로컬 드라이브에 복사하십시오.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1538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A1A1A"/>
                </a:solidFill>
                <a:highlight>
                  <a:srgbClr val="FFFFFF"/>
                </a:highlight>
              </a:rPr>
              <a:t>참고</a:t>
            </a:r>
            <a:endParaRPr b="1" sz="1100">
              <a:solidFill>
                <a:srgbClr val="1A1A1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A1A1A"/>
                </a:solidFill>
                <a:highlight>
                  <a:srgbClr val="FFFFFF"/>
                </a:highlight>
              </a:rPr>
              <a:t>* H.264 프로필 : "높음"으로 30fps에서 h264 코덱, .mp4 컨테이너로 비디오를 인코딩하는 것이 좋습니다. 모든 비트 전송률이 작동하지만 일반적으로 높을수록 좋습니다.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125" y="1496200"/>
            <a:ext cx="5535225" cy="123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/>
        </p:nvSpPr>
        <p:spPr>
          <a:xfrm>
            <a:off x="0" y="705150"/>
            <a:ext cx="64503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0000">
            <a:noAutofit/>
          </a:bodyPr>
          <a:lstStyle/>
          <a:p>
            <a:pPr indent="0" lvl="0" marL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  <a:highlight>
                  <a:srgbClr val="FFFFFF"/>
                </a:highlight>
              </a:rPr>
              <a:t>Project Assets으로 리소스를 추가하는 </a:t>
            </a:r>
            <a:r>
              <a:rPr b="1" lang="ko" sz="1700">
                <a:solidFill>
                  <a:schemeClr val="dk1"/>
                </a:solidFill>
                <a:highlight>
                  <a:srgbClr val="FFFFFF"/>
                </a:highlight>
              </a:rPr>
              <a:t>방법</a:t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  <a:highlight>
                  <a:schemeClr val="lt1"/>
                </a:highlight>
              </a:rPr>
              <a:t>마스킹 도구를 사용해 효과/연출이 재생 될 영역을 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chemeClr val="lt1"/>
                </a:highlight>
              </a:rPr>
              <a:t>새로 만들거나 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기존에 생성된 Surface를 선택합니다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도구 모음 에서 </a:t>
            </a: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에셋 브라우저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를 클릭 하거나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Ctrl+P/CMD + P 키를 누릅니다.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grpSp>
        <p:nvGrpSpPr>
          <p:cNvPr id="189" name="Google Shape;189;p32"/>
          <p:cNvGrpSpPr/>
          <p:nvPr/>
        </p:nvGrpSpPr>
        <p:grpSpPr>
          <a:xfrm>
            <a:off x="4462267" y="705150"/>
            <a:ext cx="4407861" cy="3902969"/>
            <a:chOff x="4644726" y="158918"/>
            <a:chExt cx="4750874" cy="4063900"/>
          </a:xfrm>
        </p:grpSpPr>
        <p:pic>
          <p:nvPicPr>
            <p:cNvPr id="190" name="Google Shape;1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44726" y="158918"/>
              <a:ext cx="4591650" cy="406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32"/>
            <p:cNvSpPr/>
            <p:nvPr/>
          </p:nvSpPr>
          <p:spPr>
            <a:xfrm>
              <a:off x="4644735" y="1476859"/>
              <a:ext cx="1492200" cy="18042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2"/>
            <p:cNvSpPr/>
            <p:nvPr/>
          </p:nvSpPr>
          <p:spPr>
            <a:xfrm>
              <a:off x="5900527" y="217644"/>
              <a:ext cx="1705200" cy="6579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2"/>
            <p:cNvSpPr/>
            <p:nvPr/>
          </p:nvSpPr>
          <p:spPr>
            <a:xfrm>
              <a:off x="8372695" y="244186"/>
              <a:ext cx="686400" cy="6048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2"/>
            <p:cNvSpPr txBox="1"/>
            <p:nvPr/>
          </p:nvSpPr>
          <p:spPr>
            <a:xfrm>
              <a:off x="6003191" y="2178482"/>
              <a:ext cx="12663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FFFF"/>
                  </a:solidFill>
                </a:rPr>
                <a:t>기존Surface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95" name="Google Shape;195;p32"/>
            <p:cNvSpPr txBox="1"/>
            <p:nvPr/>
          </p:nvSpPr>
          <p:spPr>
            <a:xfrm>
              <a:off x="5960667" y="877348"/>
              <a:ext cx="15849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FFFF"/>
                  </a:solidFill>
                </a:rPr>
                <a:t>마스킹도구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96" name="Google Shape;196;p32"/>
            <p:cNvSpPr txBox="1"/>
            <p:nvPr/>
          </p:nvSpPr>
          <p:spPr>
            <a:xfrm>
              <a:off x="7810700" y="849000"/>
              <a:ext cx="1584900" cy="3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FFFFFF"/>
                  </a:solidFill>
                </a:rPr>
                <a:t>에셋브라우저</a:t>
              </a:r>
              <a:endParaRPr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/>
        </p:nvSpPr>
        <p:spPr>
          <a:xfrm>
            <a:off x="1346850" y="191850"/>
            <a:ext cx="6450300" cy="47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0000">
            <a:noAutofit/>
          </a:bodyPr>
          <a:lstStyle/>
          <a:p>
            <a:pPr indent="0" lvl="0" marL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highlight>
                  <a:srgbClr val="FFFFFF"/>
                </a:highlight>
              </a:rPr>
              <a:t>4.  Project Assets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 탭을 클릭 하십시오.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075" y="191850"/>
            <a:ext cx="3625850" cy="39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/>
          <p:nvPr/>
        </p:nvSpPr>
        <p:spPr>
          <a:xfrm>
            <a:off x="3305075" y="271250"/>
            <a:ext cx="813600" cy="763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/>
        </p:nvSpPr>
        <p:spPr>
          <a:xfrm>
            <a:off x="1346850" y="291325"/>
            <a:ext cx="6450300" cy="45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0000">
            <a:noAutofit/>
          </a:bodyPr>
          <a:lstStyle/>
          <a:p>
            <a:pPr indent="0" lvl="0" marL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5. 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외부에서 다운로드 받은 컴퓨터의 이미지 또는 비디오를 </a:t>
            </a: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프로젝트 에셋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패널로  </a:t>
            </a: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드래그하거나 파일 선택 또는 여기로 드래그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링크를 클릭한 후 탐색기 창이 나타나면 다운로드 받은 리소스를 추가합니다.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09" name="Google Shape;2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050" y="472150"/>
            <a:ext cx="2882450" cy="31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4"/>
          <p:cNvSpPr/>
          <p:nvPr/>
        </p:nvSpPr>
        <p:spPr>
          <a:xfrm>
            <a:off x="1814225" y="1767888"/>
            <a:ext cx="1346100" cy="321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4"/>
          <p:cNvSpPr/>
          <p:nvPr/>
        </p:nvSpPr>
        <p:spPr>
          <a:xfrm>
            <a:off x="4259075" y="1951700"/>
            <a:ext cx="281400" cy="55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1050" y="1144950"/>
            <a:ext cx="3492499" cy="216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/>
        </p:nvSpPr>
        <p:spPr>
          <a:xfrm>
            <a:off x="984500" y="411875"/>
            <a:ext cx="7142700" cy="42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0000">
            <a:noAutofit/>
          </a:bodyPr>
          <a:lstStyle/>
          <a:p>
            <a:pPr indent="0" lvl="0" marL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6. 에셋이 </a:t>
            </a: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프로젝트 에셋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탭에 나타납니다.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450" y="411875"/>
            <a:ext cx="3234775" cy="37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5"/>
          <p:cNvSpPr/>
          <p:nvPr/>
        </p:nvSpPr>
        <p:spPr>
          <a:xfrm>
            <a:off x="3305100" y="2983600"/>
            <a:ext cx="1436700" cy="1085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/>
        </p:nvSpPr>
        <p:spPr>
          <a:xfrm>
            <a:off x="1346850" y="502300"/>
            <a:ext cx="6450300" cy="4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000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7. 에셋을 두 번 클릭하거나 에셋을 선택하면 나타나는 </a:t>
            </a:r>
            <a:r>
              <a:rPr b="1" lang="ko" sz="1500">
                <a:solidFill>
                  <a:schemeClr val="dk1"/>
                </a:solidFill>
                <a:highlight>
                  <a:srgbClr val="FFFFFF"/>
                </a:highlight>
              </a:rPr>
              <a:t>콘텐츠 삽입 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</a:rPr>
              <a:t>버튼을 눌러 추가합니다.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25" name="Google Shape;22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877" y="241075"/>
            <a:ext cx="2768175" cy="36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6"/>
          <p:cNvSpPr/>
          <p:nvPr/>
        </p:nvSpPr>
        <p:spPr>
          <a:xfrm>
            <a:off x="1346850" y="2812875"/>
            <a:ext cx="723300" cy="221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6"/>
          <p:cNvSpPr/>
          <p:nvPr/>
        </p:nvSpPr>
        <p:spPr>
          <a:xfrm>
            <a:off x="3927950" y="2270375"/>
            <a:ext cx="352800" cy="46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5650" y="1247000"/>
            <a:ext cx="3838574" cy="22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Built-in Assets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기본적으로 제공되는 내장된 Asset입니다.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Lightform Creator에 내장 된 사용자 정의 이펙트 및 제네레이터, 이미지 및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비디오 라이브러리를 제공하여 장면에 애니메이션과 모션 콘텐츠를 즉시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적용합니다.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rgbClr val="38761D"/>
                </a:solidFill>
                <a:highlight>
                  <a:srgbClr val="FFFFFF"/>
                </a:highlight>
              </a:rPr>
              <a:t>effect</a:t>
            </a: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 및 </a:t>
            </a:r>
            <a:r>
              <a:rPr b="1" lang="ko" sz="1100">
                <a:solidFill>
                  <a:srgbClr val="6D9EEB"/>
                </a:solidFill>
                <a:highlight>
                  <a:srgbClr val="FFFFFF"/>
                </a:highlight>
              </a:rPr>
              <a:t>generator</a:t>
            </a:r>
            <a:endParaRPr b="1" sz="1100">
              <a:solidFill>
                <a:srgbClr val="6D9EEB"/>
              </a:solidFill>
              <a:highlight>
                <a:srgbClr val="FFFFFF"/>
              </a:highlight>
            </a:endParaRPr>
          </a:p>
          <a:p>
            <a:pPr indent="-298450" lvl="0" marL="64770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effect </a:t>
            </a: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: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스캔 데이터 (색상, 불일치, 법선, 가장자리 및 가장자리까지의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거리)를 활용하여 상황 인식 그래픽을 만듭니다.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647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generator </a:t>
            </a: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스캔 데이터의 영향을받지 않는 그래픽을 절차 적으로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생성합니다.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8750"/>
              </a:lnSpc>
              <a:spcBef>
                <a:spcPts val="5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8700" y="421925"/>
            <a:ext cx="2403975" cy="429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7"/>
          <p:cNvSpPr/>
          <p:nvPr/>
        </p:nvSpPr>
        <p:spPr>
          <a:xfrm>
            <a:off x="6931675" y="442025"/>
            <a:ext cx="542400" cy="46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/>
          <p:nvPr/>
        </p:nvSpPr>
        <p:spPr>
          <a:xfrm>
            <a:off x="6148950" y="1105050"/>
            <a:ext cx="451200" cy="1908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/>
        </p:nvSpPr>
        <p:spPr>
          <a:xfrm>
            <a:off x="972000" y="771750"/>
            <a:ext cx="7054800" cy="3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Stock Assets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카탈로그에서 찾아 볼 수 있고 프로젝트에서 사용하기 위해 다운로드 할 수있는 수천 개의 에셋으로 구성된 대규모 비디오 및 애니메이션 라이브러리에 대한 액세스를 제공합니다.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한 프로젝트의 Stock Asset을 다운로드하면 컴퓨터에 저장되고 비디오 파일을 삭제하지 않는 한 향후 모든 프로젝트에서 사용 가능한 자산으로 표시됩니다.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1538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1A1A1A"/>
                </a:solidFill>
                <a:highlight>
                  <a:srgbClr val="FFFFFF"/>
                </a:highlight>
              </a:rPr>
              <a:t>참고</a:t>
            </a:r>
            <a:endParaRPr b="1" sz="1300">
              <a:solidFill>
                <a:srgbClr val="1A1A1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highlight>
                  <a:srgbClr val="FFFFFF"/>
                </a:highlight>
              </a:rPr>
              <a:t>* 다음 사양을 충족하는 주식 자산 콘텐츠를 통합합니다.</a:t>
            </a:r>
            <a:endParaRPr sz="1100">
              <a:solidFill>
                <a:srgbClr val="1A1A1A"/>
              </a:solidFill>
              <a:highlight>
                <a:srgbClr val="FFFFFF"/>
              </a:highlight>
            </a:endParaRPr>
          </a:p>
          <a:p>
            <a:pPr indent="-298450" lvl="0" marL="647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1100"/>
              <a:buChar char="●"/>
            </a:pPr>
            <a:r>
              <a:rPr lang="ko" sz="1100">
                <a:solidFill>
                  <a:srgbClr val="1A1A1A"/>
                </a:solidFill>
                <a:highlight>
                  <a:srgbClr val="FFFFFF"/>
                </a:highlight>
              </a:rPr>
              <a:t>파일 형식 : mp4</a:t>
            </a:r>
            <a:endParaRPr sz="1100">
              <a:solidFill>
                <a:srgbClr val="1A1A1A"/>
              </a:solidFill>
              <a:highlight>
                <a:srgbClr val="FFFFFF"/>
              </a:highlight>
            </a:endParaRPr>
          </a:p>
          <a:p>
            <a:pPr indent="-298450" lvl="0" marL="647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1100"/>
              <a:buChar char="●"/>
            </a:pPr>
            <a:r>
              <a:rPr lang="ko" sz="1100">
                <a:solidFill>
                  <a:srgbClr val="1A1A1A"/>
                </a:solidFill>
                <a:highlight>
                  <a:srgbClr val="FFFFFF"/>
                </a:highlight>
              </a:rPr>
              <a:t>해상도 : 1080p</a:t>
            </a:r>
            <a:endParaRPr sz="1100">
              <a:solidFill>
                <a:srgbClr val="1A1A1A"/>
              </a:solidFill>
              <a:highlight>
                <a:srgbClr val="FFFFFF"/>
              </a:highlight>
            </a:endParaRPr>
          </a:p>
          <a:p>
            <a:pPr indent="-298450" lvl="0" marL="6477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1100"/>
              <a:buChar char="●"/>
            </a:pPr>
            <a:r>
              <a:rPr lang="ko" sz="1100">
                <a:solidFill>
                  <a:srgbClr val="1A1A1A"/>
                </a:solidFill>
                <a:highlight>
                  <a:srgbClr val="FFFFFF"/>
                </a:highlight>
              </a:rPr>
              <a:t>콘텐츠 유형 : 푸티 지 (스토리 블록에 의해 정의 됨)</a:t>
            </a:r>
            <a:endParaRPr sz="1100">
              <a:solidFill>
                <a:srgbClr val="1A1A1A"/>
              </a:solidFill>
              <a:highlight>
                <a:srgbClr val="FFFFFF"/>
              </a:highlight>
            </a:endParaRPr>
          </a:p>
          <a:p>
            <a:pPr indent="-298450" lvl="0" marL="647700" rtl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1A1A1A"/>
              </a:buClr>
              <a:buSzPts val="1100"/>
              <a:buChar char="●"/>
            </a:pPr>
            <a:r>
              <a:rPr lang="ko" sz="1100">
                <a:solidFill>
                  <a:srgbClr val="1A1A1A"/>
                </a:solidFill>
                <a:highlight>
                  <a:srgbClr val="FFFFFF"/>
                </a:highlight>
              </a:rPr>
              <a:t>크기 :&gt; 10 분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Stock Assets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700">
                <a:solidFill>
                  <a:schemeClr val="dk1"/>
                </a:solidFill>
              </a:rPr>
              <a:t>추가 방법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마스킹 툴로 새로운 Surface를 만들거나, </a:t>
            </a:r>
            <a:r>
              <a:rPr lang="ko" sz="1100">
                <a:solidFill>
                  <a:schemeClr val="dk1"/>
                </a:solidFill>
              </a:rPr>
              <a:t>에셋을 추가 할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Surface를 선택합니다.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도구 모음에서 Assets Browser를 클릭하고, Stock Assets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탭을 클릭합니다.</a:t>
            </a:r>
            <a:endParaRPr sz="1100">
              <a:solidFill>
                <a:schemeClr val="dk1"/>
              </a:solidFill>
            </a:endParaRPr>
          </a:p>
        </p:txBody>
      </p:sp>
      <p:grpSp>
        <p:nvGrpSpPr>
          <p:cNvPr id="247" name="Google Shape;247;p39"/>
          <p:cNvGrpSpPr/>
          <p:nvPr/>
        </p:nvGrpSpPr>
        <p:grpSpPr>
          <a:xfrm>
            <a:off x="5387356" y="2842971"/>
            <a:ext cx="2705533" cy="1528767"/>
            <a:chOff x="5697625" y="865675"/>
            <a:chExt cx="3193500" cy="1767565"/>
          </a:xfrm>
        </p:grpSpPr>
        <p:pic>
          <p:nvPicPr>
            <p:cNvPr id="248" name="Google Shape;248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97625" y="865675"/>
              <a:ext cx="3193500" cy="1767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39"/>
            <p:cNvSpPr/>
            <p:nvPr/>
          </p:nvSpPr>
          <p:spPr>
            <a:xfrm>
              <a:off x="7534450" y="924225"/>
              <a:ext cx="663000" cy="6732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39"/>
          <p:cNvGrpSpPr/>
          <p:nvPr/>
        </p:nvGrpSpPr>
        <p:grpSpPr>
          <a:xfrm>
            <a:off x="5413604" y="771744"/>
            <a:ext cx="2653055" cy="1980745"/>
            <a:chOff x="4644726" y="158918"/>
            <a:chExt cx="4591650" cy="4063900"/>
          </a:xfrm>
        </p:grpSpPr>
        <p:pic>
          <p:nvPicPr>
            <p:cNvPr id="251" name="Google Shape;25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44726" y="158918"/>
              <a:ext cx="4591650" cy="406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39"/>
            <p:cNvSpPr/>
            <p:nvPr/>
          </p:nvSpPr>
          <p:spPr>
            <a:xfrm>
              <a:off x="4644735" y="1476859"/>
              <a:ext cx="1492200" cy="18042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9"/>
            <p:cNvSpPr/>
            <p:nvPr/>
          </p:nvSpPr>
          <p:spPr>
            <a:xfrm>
              <a:off x="5900527" y="217644"/>
              <a:ext cx="1705200" cy="6579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3.</a:t>
            </a:r>
            <a:r>
              <a:rPr lang="ko" sz="1500">
                <a:solidFill>
                  <a:schemeClr val="dk1"/>
                </a:solidFill>
              </a:rPr>
              <a:t>Browse Catalog 버튼을 클릭 합니다.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grpSp>
        <p:nvGrpSpPr>
          <p:cNvPr id="259" name="Google Shape;259;p40"/>
          <p:cNvGrpSpPr/>
          <p:nvPr/>
        </p:nvGrpSpPr>
        <p:grpSpPr>
          <a:xfrm>
            <a:off x="2541871" y="1386308"/>
            <a:ext cx="3597159" cy="2089439"/>
            <a:chOff x="5697625" y="865675"/>
            <a:chExt cx="3193500" cy="1767565"/>
          </a:xfrm>
        </p:grpSpPr>
        <p:pic>
          <p:nvPicPr>
            <p:cNvPr id="260" name="Google Shape;26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97625" y="865675"/>
              <a:ext cx="3193500" cy="1767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40"/>
            <p:cNvSpPr/>
            <p:nvPr/>
          </p:nvSpPr>
          <p:spPr>
            <a:xfrm>
              <a:off x="5766375" y="2062925"/>
              <a:ext cx="873900" cy="3816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4. 검색어를 입력하고 다운로드 하고 싶은 리소스를 찾아보세요.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67" name="Google Shape;26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286" y="771750"/>
            <a:ext cx="4311416" cy="31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1"/>
          <p:cNvSpPr/>
          <p:nvPr/>
        </p:nvSpPr>
        <p:spPr>
          <a:xfrm>
            <a:off x="2491375" y="1305975"/>
            <a:ext cx="4199100" cy="341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5. 검색어를 입력하면 위와 같이 관련된 에셋들이 등장하며 우측 하단의 </a:t>
            </a:r>
            <a:r>
              <a:rPr lang="ko" sz="1500">
                <a:solidFill>
                  <a:srgbClr val="FF0000"/>
                </a:solidFill>
              </a:rPr>
              <a:t>ShowMore</a:t>
            </a:r>
            <a:r>
              <a:rPr lang="ko" sz="1500">
                <a:solidFill>
                  <a:schemeClr val="dk1"/>
                </a:solidFill>
              </a:rPr>
              <a:t>버튼을 누르면 더 많은 에셋들을 찾을 수 있습니다.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74" name="Google Shape;27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254" y="652625"/>
            <a:ext cx="4507501" cy="32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2"/>
          <p:cNvSpPr/>
          <p:nvPr/>
        </p:nvSpPr>
        <p:spPr>
          <a:xfrm>
            <a:off x="6151000" y="3605750"/>
            <a:ext cx="644400" cy="292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6</a:t>
            </a:r>
            <a:r>
              <a:rPr lang="ko" sz="1500">
                <a:solidFill>
                  <a:schemeClr val="dk1"/>
                </a:solidFill>
              </a:rPr>
              <a:t>. </a:t>
            </a:r>
            <a:r>
              <a:rPr lang="ko" sz="1500">
                <a:solidFill>
                  <a:schemeClr val="dk1"/>
                </a:solidFill>
              </a:rPr>
              <a:t>썸네일을 두 번 클릭하거나 섬네일을 선택했을 때 나타나는 다운로드 버튼을 클릭해 다운로드 합니다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81" name="Google Shape;28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625" y="388350"/>
            <a:ext cx="4888735" cy="36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7</a:t>
            </a:r>
            <a:r>
              <a:rPr lang="ko" sz="1500">
                <a:solidFill>
                  <a:schemeClr val="dk1"/>
                </a:solidFill>
              </a:rPr>
              <a:t>. 클립이 다운로드되면 </a:t>
            </a:r>
            <a:r>
              <a:rPr b="1" lang="ko" sz="1500">
                <a:solidFill>
                  <a:schemeClr val="dk1"/>
                </a:solidFill>
              </a:rPr>
              <a:t>Stock Assets</a:t>
            </a:r>
            <a:r>
              <a:rPr lang="ko" sz="1500">
                <a:solidFill>
                  <a:schemeClr val="dk1"/>
                </a:solidFill>
              </a:rPr>
              <a:t> 탭을 선택했을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때 우측의 화면과 같이 추가된 리소스들이 나타납니다.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이제 추가된 에셋을 두 번 클릭하거나 에셋을 선택하고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콘텐츠 삽입 버튼을 눌러 컨텐츠를 완성하세요.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87" name="Google Shape;28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550" y="397825"/>
            <a:ext cx="2265750" cy="45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/>
          <p:nvPr/>
        </p:nvSpPr>
        <p:spPr>
          <a:xfrm>
            <a:off x="972000" y="771750"/>
            <a:ext cx="6378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/>
              <a:t>블랜드모드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rgbClr val="38761D"/>
                </a:solidFill>
              </a:rPr>
              <a:t>예제</a:t>
            </a:r>
            <a:endParaRPr b="1" sz="1500">
              <a:solidFill>
                <a:srgbClr val="38761D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Surface에 2개 이상의 에셋을 추가합니다.</a:t>
            </a:r>
            <a:br>
              <a:rPr lang="ko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베이스가 되는 에셋은 Surface의 가장 하단에 위치하며, 재료가 되는 에셋은 상단에 위치하도록 배치합니다.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에셋의 속성 창을 보면 블렌드 모드 선택지 옆에 </a:t>
            </a:r>
            <a:r>
              <a:rPr b="1" lang="ko" sz="1100">
                <a:solidFill>
                  <a:srgbClr val="FF0000"/>
                </a:solidFill>
              </a:rPr>
              <a:t>동그란 기호</a:t>
            </a:r>
            <a:r>
              <a:rPr lang="ko" sz="1100"/>
              <a:t>가 있는데, 알파 상속 버튼입니다. 재료가 되는 에셋은 이것을 체크해줘야합니다.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속성 창에서 블렌더 타입을 하나씩 둘러 보면서 결과물을 미리 보고 마음에 드는 모드를 선택합니다.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-홈페이지에 게시된 영상을 보면 포토샵의 블렌드 모드와 동일합니다.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pic>
        <p:nvPicPr>
          <p:cNvPr id="293" name="Google Shape;29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425" y="224175"/>
            <a:ext cx="1670625" cy="46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5"/>
          <p:cNvSpPr/>
          <p:nvPr/>
        </p:nvSpPr>
        <p:spPr>
          <a:xfrm>
            <a:off x="8529150" y="771750"/>
            <a:ext cx="210900" cy="2127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/>
        </p:nvSpPr>
        <p:spPr>
          <a:xfrm>
            <a:off x="150700" y="577250"/>
            <a:ext cx="442140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미리보기(Preview) 기능 - 아트보드 우측 상단에 Preview 버튼을 눌러 예상 결과물을 볼 수 있습니다.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Edit - Preferences - Preview탭에서 옵션을 선택할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0000"/>
                </a:solidFill>
              </a:rPr>
              <a:t>Show cursor</a:t>
            </a:r>
            <a:r>
              <a:rPr lang="ko" sz="1100">
                <a:solidFill>
                  <a:schemeClr val="dk1"/>
                </a:solidFill>
              </a:rPr>
              <a:t> - 마우스 커서의 위치를 노란색 십자선으로 나타냅니다.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9900"/>
                </a:solidFill>
              </a:rPr>
              <a:t>Show Masks </a:t>
            </a:r>
            <a:r>
              <a:rPr lang="ko" sz="1100">
                <a:solidFill>
                  <a:schemeClr val="dk1"/>
                </a:solidFill>
              </a:rPr>
              <a:t>- 마스크의 테두리를 표시합니다.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3D85C6"/>
                </a:solidFill>
              </a:rPr>
              <a:t>Video Stream</a:t>
            </a:r>
            <a:r>
              <a:rPr lang="ko" sz="1100">
                <a:solidFill>
                  <a:srgbClr val="FFFF00"/>
                </a:solidFill>
              </a:rPr>
              <a:t> </a:t>
            </a:r>
            <a:r>
              <a:rPr lang="ko" sz="1100">
                <a:solidFill>
                  <a:schemeClr val="dk1"/>
                </a:solidFill>
              </a:rPr>
              <a:t>- 표시되는 미디어의 화질을 결정합니다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AA84F"/>
                </a:solidFill>
                <a:highlight>
                  <a:srgbClr val="FFFFFF"/>
                </a:highlight>
              </a:rPr>
              <a:t>Enable NDI Output(LFC 만 해당)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: 스트리밍시 Creator는 선택적으로 NDI를 통해 스트리밍 할 수 있으므로 LFC로 더 빠르게 스트리밍 할 수 있습니다. 그러나 일부 컴퓨터 / 네트워크는 NDI를 사용할 때 성능이 저하되는 것처럼 보이므로이를 해제하는이 옵션이 있습니다.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NDI란 ? 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Network Device Interface의 약자인</a:t>
            </a:r>
            <a:r>
              <a:rPr lang="ko" sz="12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NDI는 뉴텍에서 개발한 IP 전송 프로토콜의 일종으로 무(無)손실, 압축, 제로(Zero) 딜레이, 멀티캐스트를 특징으로 하는 네트워크 비디오 전송용 코덱이다.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875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100" y="748263"/>
            <a:ext cx="4572000" cy="364698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6"/>
          <p:cNvSpPr/>
          <p:nvPr/>
        </p:nvSpPr>
        <p:spPr>
          <a:xfrm>
            <a:off x="4612875" y="1478675"/>
            <a:ext cx="735900" cy="474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6"/>
          <p:cNvSpPr/>
          <p:nvPr/>
        </p:nvSpPr>
        <p:spPr>
          <a:xfrm>
            <a:off x="4612875" y="1984825"/>
            <a:ext cx="735900" cy="4740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6"/>
          <p:cNvSpPr/>
          <p:nvPr/>
        </p:nvSpPr>
        <p:spPr>
          <a:xfrm>
            <a:off x="4612875" y="2490975"/>
            <a:ext cx="1768800" cy="474000"/>
          </a:xfrm>
          <a:prstGeom prst="rect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6"/>
          <p:cNvSpPr/>
          <p:nvPr/>
        </p:nvSpPr>
        <p:spPr>
          <a:xfrm>
            <a:off x="4612875" y="2997125"/>
            <a:ext cx="841800" cy="4740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300">
                <a:solidFill>
                  <a:schemeClr val="dk1"/>
                </a:solidFill>
              </a:rPr>
              <a:t>시퀀싱에 전환 효과 사용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Transition Wipe 및 Transition Fade 내장 효과를 사용하여 프로젝트에서 더 풍부한 애니메이션을 만들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해당 튜토리얼 페이지에 링크된 파일은 가이드를 작성하고 있는 지금, 다운로드가 불가능한 상태이기 때문에 예시로 올라온 gif파일을 보고 구현 한 것이며, 부족한 설명이나 잘못된 부분이 포함 될 수 있으므로 추후 다운로드가 가능하다면 원본을 다운로드해서 확인해 볼 것을 권장합니다.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125" y="1251025"/>
            <a:ext cx="6597750" cy="305922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8"/>
          <p:cNvSpPr txBox="1"/>
          <p:nvPr/>
        </p:nvSpPr>
        <p:spPr>
          <a:xfrm>
            <a:off x="714575" y="4520900"/>
            <a:ext cx="7846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도구 상자에서 사각형,펜,사각형의 순서로 3개의 Surface를 추가하고. 이름을 Left, Arrow, Right로 변경합니다.</a:t>
            </a:r>
            <a:endParaRPr/>
          </a:p>
        </p:txBody>
      </p:sp>
      <p:sp>
        <p:nvSpPr>
          <p:cNvPr id="316" name="Google Shape;316;p48"/>
          <p:cNvSpPr txBox="1"/>
          <p:nvPr/>
        </p:nvSpPr>
        <p:spPr>
          <a:xfrm>
            <a:off x="873525" y="416875"/>
            <a:ext cx="72000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rgbClr val="38761D"/>
                </a:solidFill>
              </a:rPr>
              <a:t>예제 1.</a:t>
            </a:r>
            <a:endParaRPr b="1" sz="17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해당 영상을 보면 Transition Fade(원) - Transition Wipe(화살표) - Transition Fade(삼각형) 순으로 효과가 시작되는데, 해당 영상처럼 구현하기 위해 아래와 같은 방법을 사용했습니다.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450" y="1161550"/>
            <a:ext cx="6545099" cy="30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9"/>
          <p:cNvSpPr txBox="1"/>
          <p:nvPr/>
        </p:nvSpPr>
        <p:spPr>
          <a:xfrm>
            <a:off x="776250" y="4414775"/>
            <a:ext cx="7591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2. </a:t>
            </a:r>
            <a:r>
              <a:rPr lang="ko" sz="1100">
                <a:solidFill>
                  <a:schemeClr val="dk1"/>
                </a:solidFill>
              </a:rPr>
              <a:t>Left와 Right에는 Transition Fade와 Videos의 에셋들을 추가, Arrow에는 Transition Wipe와 Light Tunnel을 추가, Transition들의 위치는 가장 하단에 위치시키고 위의 에셋들은 블렌드 모드를 활성화하여 색상 값을Transition Fade와 Transition Wipe에 넘겨줍니다.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8000" y="1819000"/>
            <a:ext cx="2181225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2763" y="3200125"/>
            <a:ext cx="218122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3250" y="552175"/>
            <a:ext cx="2200275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0"/>
          <p:cNvSpPr txBox="1"/>
          <p:nvPr/>
        </p:nvSpPr>
        <p:spPr>
          <a:xfrm>
            <a:off x="771175" y="983425"/>
            <a:ext cx="4811100" cy="28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3. </a:t>
            </a:r>
            <a:r>
              <a:rPr lang="ko" sz="1100">
                <a:solidFill>
                  <a:schemeClr val="dk1"/>
                </a:solidFill>
              </a:rPr>
              <a:t>Left, Arrow, Right의 Transition Start와 Transition Stop의 값을 각각 (0, 0.33), (0.33,0.66),(0.66,1)로 설정합니다.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331" name="Google Shape;331;p50"/>
          <p:cNvSpPr txBox="1"/>
          <p:nvPr/>
        </p:nvSpPr>
        <p:spPr>
          <a:xfrm>
            <a:off x="5380875" y="1089550"/>
            <a:ext cx="1131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Left</a:t>
            </a:r>
            <a:endParaRPr/>
          </a:p>
        </p:txBody>
      </p:sp>
      <p:sp>
        <p:nvSpPr>
          <p:cNvPr id="332" name="Google Shape;332;p50"/>
          <p:cNvSpPr txBox="1"/>
          <p:nvPr/>
        </p:nvSpPr>
        <p:spPr>
          <a:xfrm>
            <a:off x="5380875" y="2361063"/>
            <a:ext cx="1131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Arrow</a:t>
            </a:r>
            <a:endParaRPr/>
          </a:p>
        </p:txBody>
      </p:sp>
      <p:sp>
        <p:nvSpPr>
          <p:cNvPr id="333" name="Google Shape;333;p50"/>
          <p:cNvSpPr txBox="1"/>
          <p:nvPr/>
        </p:nvSpPr>
        <p:spPr>
          <a:xfrm>
            <a:off x="5380875" y="3699325"/>
            <a:ext cx="1131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Right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4000" y="1585913"/>
            <a:ext cx="21907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8775" y="2919413"/>
            <a:ext cx="218122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51"/>
          <p:cNvSpPr txBox="1"/>
          <p:nvPr/>
        </p:nvSpPr>
        <p:spPr>
          <a:xfrm>
            <a:off x="1124925" y="1132000"/>
            <a:ext cx="43017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4"/>
            </a:pPr>
            <a:r>
              <a:rPr lang="ko" sz="1100">
                <a:solidFill>
                  <a:schemeClr val="dk1"/>
                </a:solidFill>
              </a:rPr>
              <a:t>Left, Arrow, Right의 Color Start의 RGBA값은 (0,0,0,0), Color End의 RGBA값을 (255,255,255,255)로 맞춰줍니다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4"/>
            </a:pPr>
            <a:r>
              <a:rPr lang="ko" sz="1100">
                <a:solidFill>
                  <a:schemeClr val="dk1"/>
                </a:solidFill>
              </a:rPr>
              <a:t>Arrow의 Type 옵션에서 Horizontal Wipe를 선택합니다.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2"/>
          <p:cNvSpPr txBox="1"/>
          <p:nvPr/>
        </p:nvSpPr>
        <p:spPr>
          <a:xfrm>
            <a:off x="1124925" y="1132000"/>
            <a:ext cx="6630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Transition Fade(원)의 디자인 탭을 보면 Transition Start와 Transition Stop으로 특정 시간대를 지정 할 수 있고, Color Start와 Color End의 옵션에서 Transition Start부터 Transition Stop까지의 시간동안 표현할 색상과 알파값을 조정 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Transition Wipe도 마찬가지로 Transition Start 와 Transition Stop으로 특정 시간대를 지정 할 수 있는 옵션이 있고, 앞서 예제 처럼 앞서 등장하는 Surface의 Transition Stop시간에 맞춰 , 뒤에 등장하는 Surface의 Transition Start 시간을 설정하면 같은 레이어 내에서 시간에 따라 순차적으로 재생되는 효과를 연출 할 수 있습니다.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3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rgbClr val="6AA84F"/>
                </a:solidFill>
              </a:rPr>
              <a:t>예제 2.</a:t>
            </a:r>
            <a:endParaRPr b="1" sz="17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0000FF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동일한 크기를 가진 </a:t>
            </a:r>
            <a:r>
              <a:rPr lang="ko" sz="1100">
                <a:solidFill>
                  <a:schemeClr val="dk1"/>
                </a:solidFill>
              </a:rPr>
              <a:t>2개의 Surface를 만들고 원하는 영상을 넣어줍니다. </a:t>
            </a:r>
            <a:r>
              <a:rPr lang="ko" sz="1100"/>
              <a:t>하나의 </a:t>
            </a:r>
            <a:r>
              <a:rPr lang="ko" sz="1100"/>
              <a:t> Surface를 만들고, 해당 Surface 위에 마우스를 대고 오른쪽 버튼 클릭, Duplicate를 이용합니다.)</a:t>
            </a:r>
            <a:br>
              <a:rPr lang="ko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각 Surface의 이름을 더블 클릭해서 Scene1, Scene2로 바꿔줍니다.</a:t>
            </a:r>
            <a:br>
              <a:rPr lang="ko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Scene1의 Surface에 추가한 영상에 블랜드 모드를 활성화 해줍니다.</a:t>
            </a:r>
            <a:br>
              <a:rPr lang="ko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Scene1에 Transition Fade를 추가해줍니다. Transition Fade를 클릭하면 나타나는 옵션에서 Color Start 의 RGBA의 A(알파)값을 255 로 Color End의 값을 0 으로 해줍니다.</a:t>
            </a:r>
            <a:br>
              <a:rPr lang="ko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Scene1 아트보드의 Transition Fade의 옵션에서 Transition Start의 값을 0.4로 Transition Stop의 값을 1로 설정합니다.</a:t>
            </a:r>
            <a:br>
              <a:rPr lang="ko" sz="1100"/>
            </a:b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예제 2번에 대한 추가 설명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(Transition Start와 Transition Stop은 0~1사이의 수치로 표현됩니다. 예를들어 10초짜리 영상의 경우 Transition Start를 0.5로 했을경우 5초동안은 첫번째 Surface가 나타나고, 그 이후 Fade가 실행되면서 두번째 surface가 나타나게 됩니다. 두번째 예제에서는 같은 화면에 나타나기때문에 5초후 알파값이 0이 되면서 두번째 화면이 나타납니다.)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Transition Start - Fade/Wipe가 시작되는 시간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Transition Stop - Fade/Wipe가 완료되는 시간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Color Start - Transition Start가 시작될 당시의 색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Color End - Transition Stop에 도달했을 때의 색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TouchOSC 사용 설명서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6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TouchOSC가있는 대화 형 컨트롤러 -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TouchOSC는 유료 어플리케이션입니다.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Help 메뉴 로 이동하여 Enable Labs를 눌러 활성화하고,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속성창에서 Live**</a:t>
            </a:r>
            <a:r>
              <a:rPr lang="ko" sz="11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를</a:t>
            </a:r>
            <a:r>
              <a:rPr lang="ko" sz="1100">
                <a:solidFill>
                  <a:schemeClr val="dk1"/>
                </a:solidFill>
              </a:rPr>
              <a:t>** 활성화합니다.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Live 설정을 활성화하면 이펙트 / 제너레이터는 Lightform 장치에서 프로젝트를 재생하는 동안 실시간으로 계산되며 재생 중 OSC 메시지를 사용하여 이펙트의 매개 변수를 조정할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guide.lightform.com/hc/article_attachments/360066822114/enable-LabsLive_1x.png" id="366" name="Google Shape;36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2775" y="984500"/>
            <a:ext cx="3085201" cy="246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7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TouchOSC 앱을 모바일 장치에 다운로드하고 설치 한 후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Lightform 장치와 컴퓨터가 연결된 동일한 Wi-Fi 네트워크에 모바일 장치를 연결합니다.(매우 중요)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TouchOSC 앱  에서 </a:t>
            </a:r>
            <a:r>
              <a:rPr b="1" lang="ko" sz="1100">
                <a:solidFill>
                  <a:schemeClr val="dk1"/>
                </a:solidFill>
              </a:rPr>
              <a:t>연결</a:t>
            </a:r>
            <a:r>
              <a:rPr lang="ko" sz="1100">
                <a:solidFill>
                  <a:schemeClr val="dk1"/>
                </a:solidFill>
              </a:rPr>
              <a:t> 아래에 있는 </a:t>
            </a:r>
            <a:r>
              <a:rPr b="1" lang="ko" sz="1100">
                <a:solidFill>
                  <a:schemeClr val="dk1"/>
                </a:solidFill>
              </a:rPr>
              <a:t>OSC</a:t>
            </a:r>
            <a:r>
              <a:rPr lang="ko" sz="1100">
                <a:solidFill>
                  <a:schemeClr val="dk1"/>
                </a:solidFill>
              </a:rPr>
              <a:t>라인을 탭하고  다음 정보를 입력합니다 : </a:t>
            </a:r>
            <a:r>
              <a:rPr b="1" lang="ko" sz="1100">
                <a:solidFill>
                  <a:schemeClr val="dk1"/>
                </a:solidFill>
              </a:rPr>
              <a:t>호스트 이름 :</a:t>
            </a:r>
            <a:r>
              <a:rPr lang="ko" sz="1100">
                <a:solidFill>
                  <a:schemeClr val="dk1"/>
                </a:solidFill>
              </a:rPr>
              <a:t> &lt;Lightform 장치 IP 주소&gt; (제어 페이지의 Lightform Creator에서 또는 투영 된 테스트 카드를 보면 장치의 IP 주소를 찾을 수 있습니다. ) </a:t>
            </a:r>
            <a:r>
              <a:rPr b="1" lang="ko" sz="1100">
                <a:solidFill>
                  <a:schemeClr val="dk1"/>
                </a:solidFill>
              </a:rPr>
              <a:t>Port(outgoing) :</a:t>
            </a:r>
            <a:r>
              <a:rPr lang="ko" sz="1100">
                <a:solidFill>
                  <a:schemeClr val="dk1"/>
                </a:solidFill>
              </a:rPr>
              <a:t> 8000 </a:t>
            </a:r>
            <a:r>
              <a:rPr b="1" lang="ko" sz="1100">
                <a:solidFill>
                  <a:schemeClr val="dk1"/>
                </a:solidFill>
              </a:rPr>
              <a:t>Port(incoming) :</a:t>
            </a:r>
            <a:r>
              <a:rPr lang="ko" sz="1100">
                <a:solidFill>
                  <a:schemeClr val="dk1"/>
                </a:solidFill>
              </a:rPr>
              <a:t> 9099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기본 설정 페이지로 돌아가려면 왼쪽 상단의 **&lt;TouchOSC&gt;**를  누릅니다 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이제 OSC를 통해 Lightform에 연결</a:t>
            </a:r>
            <a:r>
              <a:rPr lang="ko" sz="1100">
                <a:solidFill>
                  <a:schemeClr val="dk1"/>
                </a:solidFill>
              </a:rPr>
              <a:t>되어야</a:t>
            </a:r>
            <a:r>
              <a:rPr lang="ko" sz="1100">
                <a:solidFill>
                  <a:schemeClr val="dk1"/>
                </a:solidFill>
              </a:rPr>
              <a:t>합니다.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descr="https://guide.lightform.com/hc/article_attachments/360067882853/touchOSC-infoInput_1x.png" id="372" name="Google Shape;37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600" y="2315075"/>
            <a:ext cx="2913974" cy="150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8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다운로드 할 수있는 Lightform 레이아웃을 사용하여 시작할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필요 설치 파일 :</a:t>
            </a:r>
            <a:r>
              <a:rPr lang="ko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ko" sz="11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https://s3-us-west-2.amazonaws.com/software.webservices.lumenous3d.com/TouchOSC/Lightform-0.9.6.touchosc</a:t>
            </a:r>
            <a:endParaRPr sz="1100" u="sng">
              <a:solidFill>
                <a:schemeClr val="accent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Android</a:t>
            </a:r>
            <a:br>
              <a:rPr b="1" lang="ko" sz="1100">
                <a:solidFill>
                  <a:schemeClr val="dk1"/>
                </a:solidFill>
              </a:rPr>
            </a:br>
            <a:br>
              <a:rPr b="1"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 이 파일을 휴대폰에 다운로드하여 직접 설치합니다.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iOS</a:t>
            </a:r>
            <a:br>
              <a:rPr b="1" lang="ko" sz="1100">
                <a:solidFill>
                  <a:schemeClr val="dk1"/>
                </a:solidFill>
              </a:rPr>
            </a:br>
            <a:br>
              <a:rPr b="1"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 컴퓨터에 파일을 다운로드 한 다음 iTunes를 사용하여 파일을 휴대폰에 복사합니다.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파일이 장치에 설치되면, Layout을 눌러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현재 레이아웃으로 </a:t>
            </a:r>
            <a:r>
              <a:rPr b="1" lang="ko" sz="1100">
                <a:solidFill>
                  <a:schemeClr val="dk1"/>
                </a:solidFill>
              </a:rPr>
              <a:t>Lightform-0.9.6을 </a:t>
            </a:r>
            <a:r>
              <a:rPr lang="ko" sz="1100">
                <a:solidFill>
                  <a:schemeClr val="dk1"/>
                </a:solidFill>
              </a:rPr>
              <a:t>선택해서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레이아웃 설정을 바꿉니다.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만약 해당 레이아웃 파일을 카카오톡으로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전송했다면 TouchOSC를 열고,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Layout -  Add from File - KakaoTalk Download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폴더로 이동하면 방금 받은 레이아웃 파일이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나타나고 그것을 터치해주면 레이아웃 리스트에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해당 레이아웃이 추가되고, 자동으로 변경됩니다.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descr="https://guide.lightform.com/hc/article_attachments/360066822154/touchOSC-selectLayout_1x.png" id="383" name="Google Shape;38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171" y="771750"/>
            <a:ext cx="3897830" cy="30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0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7. Done을 터치하면 아래와 같은 화면이 나타납니다</a:t>
            </a:r>
            <a:endParaRPr/>
          </a:p>
        </p:txBody>
      </p:sp>
      <p:pic>
        <p:nvPicPr>
          <p:cNvPr descr="https://guide.lightform.com/hc/article_attachments/360066822174/touchOSC-LightformLayout_1x.png" id="389" name="Google Shape;38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703" y="1336978"/>
            <a:ext cx="6034589" cy="303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1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TouchOSC 편집기를 다운로드하여 프로젝트를 더 잘 제어 할 수있는 사용자 지정 레이아웃을 만들 수 있습니다. 자세한 내용은</a:t>
            </a:r>
            <a:r>
              <a:rPr lang="ko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ko" sz="11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https://hexler.net/docs/touchosc-configuration-layout</a:t>
            </a:r>
            <a:r>
              <a:rPr lang="ko" sz="1100">
                <a:solidFill>
                  <a:schemeClr val="dk1"/>
                </a:solidFill>
              </a:rPr>
              <a:t> 에서 참고 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주의해야 할 사항은 사용자 지정 레이아웃을 만들 때 버튼을 사용하는 경우 ( 예 : 재생 / 중지 / 다음 슬라이드 / 기타) "Send on Release"를 꺼야합니다. 이렇게하지 않으면 버튼을 눌렀다가 놓으면 2 개의 이벤트가 생성됩니다 ( 예 : "다음 슬라이드"버튼을 누르면 실제로 1 개가 아닌 2 개의 슬라이드가 진행됩니다).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명심해야 할 또 다른 사항은 TouchOSC에서는  1D 및 2D 슬라이더와 토글 / 순간 버튼 만 정의 할 수 있다는 것입니다 . 즉, 모든 OSC 제어 가능 매개 변수가 Touch OSC에서 작동하는 것은 아닙니다.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TouchOSC에서는 페이더 (또는 대부분의 다른 컨트롤)를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사용하여 'Line Width'또는 'Zoom'과 같은 1D 매개 변수를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제어 할 수 있습니다. 그러나 'Hue / Sat / Lum. 오프셋 '은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3D이므로 Touch OSC에서 작동하지 않습니다.</a:t>
            </a:r>
            <a:endParaRPr/>
          </a:p>
        </p:txBody>
      </p:sp>
      <p:pic>
        <p:nvPicPr>
          <p:cNvPr descr="https://guide.lightform.com/hc/article_attachments/360066822194/touchOSC-inputTypes_1x.png" id="395" name="Google Shape;395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4850" y="2732475"/>
            <a:ext cx="3517150" cy="163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1"/>
          <p:cNvSpPr txBox="1"/>
          <p:nvPr/>
        </p:nvSpPr>
        <p:spPr>
          <a:xfrm>
            <a:off x="5002850" y="4460375"/>
            <a:ext cx="28932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그림 참조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2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rgbClr val="1155CC"/>
                </a:solidFill>
              </a:rPr>
              <a:t>Lightform Creator에서 OSC 컨트롤 매핑</a:t>
            </a:r>
            <a:endParaRPr b="1" sz="1700">
              <a:solidFill>
                <a:srgbClr val="1155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현재 Lightform Creator는 슬라이드 당 하나의 라이브 효과만 지원합니다.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하나 이상의 라이브 효과를 사용하여 프로젝트를 Publish합니다.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Control 페이지로 전환하고 </a:t>
            </a:r>
            <a:r>
              <a:rPr b="1" lang="ko" sz="1100">
                <a:solidFill>
                  <a:schemeClr val="dk1"/>
                </a:solidFill>
              </a:rPr>
              <a:t>OSC 매핑 창을</a:t>
            </a:r>
            <a:r>
              <a:rPr lang="ko" sz="1100">
                <a:solidFill>
                  <a:schemeClr val="dk1"/>
                </a:solidFill>
              </a:rPr>
              <a:t> 엽니다.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TouchOSC 앱의 컨트롤에 연결하려는 매개 변수 옆에있는 Learn을</a:t>
            </a:r>
            <a:br>
              <a:rPr lang="ko" sz="1100">
                <a:solidFill>
                  <a:schemeClr val="dk1"/>
                </a:solidFill>
              </a:rPr>
            </a:b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 클릭 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앱의 버튼 중 하나를 터치하거나 슬라이더 중 하나를 이동하여 해당 컨트롤을 Lightform 장치가 학습하는 매개 변수와 연결합니다.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이제 해당 컨트롤을 사용할 때 매개 변수가 Lightform 장치에서 실시간으로 변경됩니다.</a:t>
            </a:r>
            <a:br>
              <a:rPr lang="ko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3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추가 설명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항상 재생됩니다.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해당 이펙트의 속성을 TouchOSC로 제어 할 수 있습니다.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/>
              <a:t>TouchOSC에서 입력할 때 각 슬라이드마다 따로 적용되기때문에, 중복 키 사용이 가능합니다.(예) Slide1에서 fader1과 Slide2에서 fader1은 같은 키를 공유하지만 다른 효과를 낼 수 있기때문에 사용자가 어떤 속성을 저장했는지 잘 기억해야 합니다.)</a:t>
            </a:r>
            <a:endParaRPr sz="11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TouchOSC Editor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5"/>
          <p:cNvSpPr txBox="1"/>
          <p:nvPr/>
        </p:nvSpPr>
        <p:spPr>
          <a:xfrm>
            <a:off x="972000" y="50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LED:이 컨트롤은 표시 목적으로 만 사용되며 터치 또는 메시지 전송에 반응하지 않습니다. 수신 메시지의 값은 컨트롤의 값 범위에 매핑되고 LED 디스플레이의 밝기를 업데이트합니다.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Label(V,H):이 컨트롤은 표시 목적으로 만 사용되며 터치 또는 메시지 전송에 반응하지 않습니다. 수신 메시지의 값은 텍스트로 표시됩니다. 텍스트 및 숫자 값을 모두 수신하고 표시 할 수 있습니다.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속성: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개요: 컨트롤 켜기 / 끄기 주위에 윤곽 그리기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배경: 배경색 켜기 / 끄기로 컨트롤 채우기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Text : 컨트롤에 표시되는 텍스트입니다. 수신 메시지로 변경할 수 있습니다.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Size : 컨트롤에 표시되는 텍스트의 크기입니다.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PushButton:이 컨트롤은 눌렀을 때 값 범위의 두 번째 값을 보내고 놓을 때 값 범위의 첫 번째 값을 보냅니다.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ToggleButton:이 컨트롤은 놓을 때 켜짐 / 꺼짐 상태로 변경 됩니다. 상태가 on으로 변경되면 값 범위의 두 번째 값이 전송되고 그렇지 않으면 첫 번째 값이 전송됩니다.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XY패드:이 컨트롤은 사각형의 x 및 y 축을 따라 터치 위치를 값 범위에 매핑하고 두 값을 모두 보냅니다. x 및 y 값은 모두 동일한 값 범위를 사용합니다. 각 축의 최소 및 최대 값 위치의 위치는 컨트롤의 속성에서 반전 될 수 있습니다.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Fader,Rotar(V,H):이러한 컨트롤은 하드웨어 장치의 클래식 페이더 및 전위차계 컨트롤을 에뮬레이트합니다. 최소 위치와 최대 위치 사이를 보간하여 터치 위치를 값 범위에 매핑합니다.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6"/>
          <p:cNvSpPr txBox="1"/>
          <p:nvPr/>
        </p:nvSpPr>
        <p:spPr>
          <a:xfrm>
            <a:off x="972000" y="59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Encoder:이 컨트롤은 하드웨어 장치에서 무한 로터리 또는 엔코더 컨트롤을 에뮬레이트합니다. 터치를 시계 방향으로 이동하면 값 범위의 상단을 전송하고, 터치를 시계 반대 방향으로 이동하면 값 범위의 하단을 전송합니다. 수신 메시지에 응답하지 않습니다.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Battery(V,H):이 컨트롤은 표시 목적으로 만 사용되며 터치 또는 메시지 전송에 반응하지 않습니다. 장치의 현재 배터리 충전량을 표시합니다. 수신 메시지에 응답하지 않습니다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Time(V,H):이 컨트롤은 표시 목적으로 만 사용되며 터치 또는 메시지 전송에 반응하지 않습니다. 현재 시간을 표시합니다. 수신 메시지에 응답하지 않습니다.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Multi-Toggle:이 컨트롤은 여러 토글 컨트롤을 하나의 컨트롤로 그룹화합니다. 터치 이벤트는 하나의 제스처로 여러 토글 컨트롤을 탐색하고 해당 값을 변경할 수 있습니다. 이 컨트롤은 동시에 여러 터치 이벤트를 허용합니다.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Mulit-XY:이 컨트롤은 XY Pad 컨트롤 과 동일한 방식으로 작동하지만 동시에 최대 5 개의 터치 포인트를 처리합니다. 이 컨트롤은 여러 터치 이벤트를 허용합니다. 수신 메시지에 응답하지 않습니다.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Mulit-Push:이 컨트롤은 여러 푸시 버튼 컨트롤을 하나의 컨트롤로 그룹화합니다. 터치 이벤트는 하나의 제스처로 여러 푸시 컨트롤을 탐색하고 해당 값을 변경할 수 있습니다. 이 컨트롤은 동시에 여러 터치 이벤트를 허용합니다.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Mulit-Fader:이 컨트롤은 여러 페이더 컨트롤을 하나의 컨트롤로 그룹화합니다. 터치 이벤트는 하나의 제스처로 여러 페이더 컨트롤을 탐색하고 값을 변경할 수 있습니다. 이 컨트롤은 동시에 여러 터치 이벤트를 허용합니다.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7"/>
          <p:cNvSpPr txBox="1"/>
          <p:nvPr/>
        </p:nvSpPr>
        <p:spPr>
          <a:xfrm>
            <a:off x="972000" y="771750"/>
            <a:ext cx="720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Lightform Layout을 기반으로 사용자 정의 OSC 템플릿 만들기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https://hexler.net/products/touchosc#downloads</a:t>
            </a:r>
            <a:endParaRPr sz="1100" u="sng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1.위의 홈페이지에서 TouchOSC Editor 윈도우용을 다운로드 받습니다.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*TouchOSC Bridge는 TouchOSC에서 보낸 MIDI 메시지를 컴퓨터의 MIDI 가능 응용 프로그램으로 (또는 그 반대로) 중계하는 독립 실행 형 응용 프로그램입니다.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2.앞서 받았던 lightform layout을 TouchOSC Editor로 열고, 첫번째 슬라이더를 클릭합니다.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8"/>
          <p:cNvSpPr txBox="1"/>
          <p:nvPr/>
        </p:nvSpPr>
        <p:spPr>
          <a:xfrm>
            <a:off x="0" y="727350"/>
            <a:ext cx="34920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3.좌측의 속성 창에서 해당 버튼의 여러 속성이 나타나는데, 원하는 수치로 변경해줍니다.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/>
              <a:t>*지금 수정하고 있는 레이아웃의 경우 각 슬라이더마다 값의 표현 범위에 차등을 주었고, 이를 직관적으로 나타내기 위해 연동시 표시 되는 이름에 value range값을 포함했습니다. 예) Fader1 → Fader1(0~20) // Fader2 → Fader2(0~10) //Fader3 → Fader3(0~1) // Fade4 → Fader4(0~1)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4.첫번째 슬라이더의 Value Range의 From 값을 1→ 20 으로,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두번째 슬라이더의 Value Range의 From 값을 1→ 10 으로 변경합니다.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2101" y="547425"/>
            <a:ext cx="5651899" cy="35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9"/>
          <p:cNvSpPr txBox="1"/>
          <p:nvPr/>
        </p:nvSpPr>
        <p:spPr>
          <a:xfrm>
            <a:off x="0" y="596575"/>
            <a:ext cx="4643700" cy="42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 startAt="5"/>
            </a:pPr>
            <a:r>
              <a:rPr lang="ko"/>
              <a:t>변경이 완료되었으면 레이아웃 상단의 오른쪽 탭을 클릭합니다.(사진에 붉게 표시된 부분)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 startAt="6"/>
            </a:pPr>
            <a:r>
              <a:rPr lang="ko"/>
              <a:t>두번째 화면에는 XY Pad와 4개의 레이블이 보이는데, XY Pad를 선택 한 후,속성 창에서아래 그림과 같이 값을 수정합니다.</a:t>
            </a:r>
            <a:endParaRPr/>
          </a:p>
        </p:txBody>
      </p:sp>
      <p:pic>
        <p:nvPicPr>
          <p:cNvPr id="438" name="Google Shape;43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8700" y="1959050"/>
            <a:ext cx="2445150" cy="34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8700" y="0"/>
            <a:ext cx="2851501" cy="19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0"/>
          <p:cNvSpPr txBox="1"/>
          <p:nvPr/>
        </p:nvSpPr>
        <p:spPr>
          <a:xfrm>
            <a:off x="798125" y="612700"/>
            <a:ext cx="7304100" cy="3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7.변경이 완료된 XYPad를 복사 후 붙여넣기 해줍니다.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복사된 개체의 이름을 /xyEnd로 수정하고 X : 45 / Y : 330 / W : 320 /H: 275로 값을 변경해줍니다.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/>
              <a:t>8. 만약 기능을 추가하고 싶다거나 기존의 UI가 마음에 들지 않는다면 상단 탭에서 우클릭을 하고, add page로 새 페이지를 만들어 준 후 원하는대로 꾸며주면 됩니다.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앞에서 버튼의 기능에 대한 설명을 읽어보고, 원하는 기능을 표현할 수 있으면서, 마음에 드는 모양으로 선택하세요. 속성 창에서 UI의 색상과, 위치를 변경할 수 있습니다.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9.수정이 완료됐다면 Save나 Save As 버튼을 눌러 저장합니다.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1"/>
          <p:cNvSpPr txBox="1"/>
          <p:nvPr/>
        </p:nvSpPr>
        <p:spPr>
          <a:xfrm>
            <a:off x="1020375" y="443400"/>
            <a:ext cx="4445700" cy="44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10.해당 레이아웃을 TouchOSC에 적용하는 방법은 2가지입니다. 첫번째는 우리가 수정한 파일을 압축 한 후, 핸드폰에 직접넣어 TouchOSC 어플리케이션의 layout - Add from File에서 저장된 경로를 찾아 추가하는 것이고, 다른 하나는 TouchOSC Editor의 우측 상단에 보면 Sync라는 버튼이 있는데, 이 버튼을 누른 후, TouchOSC 어플리케이션으로 들어가 layout - Add from Editor - Founded Host에 연결된 컴퓨터를 터치하면 해당 레이아웃이 추가됩니다. 만약 Founded Host가 보이지 않을경우 컴퓨터의 ip를 입력한 후 다운로드를 누르면 됩니다. (장치와 컴퓨터가 같은 wifi를 사용하고 있는 상태여야합니다.)</a:t>
            </a:r>
            <a:endParaRPr/>
          </a:p>
        </p:txBody>
      </p:sp>
      <p:pic>
        <p:nvPicPr>
          <p:cNvPr id="450" name="Google Shape;45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075" y="152400"/>
            <a:ext cx="2353964" cy="483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Cake예제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3"/>
          <p:cNvSpPr txBox="1"/>
          <p:nvPr/>
        </p:nvSpPr>
        <p:spPr>
          <a:xfrm>
            <a:off x="972000" y="3584625"/>
            <a:ext cx="67767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</a:t>
            </a:r>
            <a:r>
              <a:rPr lang="ko"/>
              <a:t>대상이 되는 오브젝트를 스캔합니다.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61" name="Google Shape;46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00" y="1245238"/>
            <a:ext cx="3284126" cy="22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60175"/>
            <a:ext cx="3284126" cy="18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000" y="2527350"/>
            <a:ext cx="2797714" cy="234634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74"/>
          <p:cNvSpPr txBox="1"/>
          <p:nvPr/>
        </p:nvSpPr>
        <p:spPr>
          <a:xfrm>
            <a:off x="1051775" y="1008850"/>
            <a:ext cx="71049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2. </a:t>
            </a:r>
            <a:r>
              <a:rPr lang="ko">
                <a:solidFill>
                  <a:schemeClr val="dk1"/>
                </a:solidFill>
              </a:rPr>
              <a:t>.펜으로 오브젝트 전체를 감싸는 Surface와, 각 층을 나누는 Surface를 그립니다.(그 외 Cake의 상단이나 주변에 표현하고 싶은 효과나 연출이 있다면 그 부분을 Surface를 추가합니다.)</a:t>
            </a:r>
            <a:endParaRPr/>
          </a:p>
        </p:txBody>
      </p:sp>
      <p:pic>
        <p:nvPicPr>
          <p:cNvPr id="469" name="Google Shape;46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0500" y="2509788"/>
            <a:ext cx="2495049" cy="23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0" y="1776413"/>
            <a:ext cx="3429000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75"/>
          <p:cNvSpPr txBox="1"/>
          <p:nvPr/>
        </p:nvSpPr>
        <p:spPr>
          <a:xfrm>
            <a:off x="987375" y="3820725"/>
            <a:ext cx="7062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3.화면 </a:t>
            </a:r>
            <a:r>
              <a:rPr lang="ko">
                <a:solidFill>
                  <a:schemeClr val="dk1"/>
                </a:solidFill>
              </a:rPr>
              <a:t>하단의 슬라이더에 +기호를 눌러 필요한만큼 슬라이더를 추가합니다.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75"/>
          <p:cNvSpPr/>
          <p:nvPr/>
        </p:nvSpPr>
        <p:spPr>
          <a:xfrm>
            <a:off x="5435075" y="2364613"/>
            <a:ext cx="658500" cy="414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6"/>
          <p:cNvSpPr txBox="1"/>
          <p:nvPr/>
        </p:nvSpPr>
        <p:spPr>
          <a:xfrm>
            <a:off x="847800" y="4081950"/>
            <a:ext cx="74484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4</a:t>
            </a:r>
            <a:r>
              <a:rPr lang="ko">
                <a:solidFill>
                  <a:schemeClr val="dk1"/>
                </a:solidFill>
              </a:rPr>
              <a:t>. 각 슬라이더에서 사용하지 않을 Surface는 눈 모양을 클릭해서 비활성화 시켜줍니다.(다른 슬라이더에서 작업할지라도 Surface는 모든 슬라이더에서 공용으로 사용되므로 절대 삭제해선 안됩니다.)</a:t>
            </a:r>
            <a:endParaRPr/>
          </a:p>
        </p:txBody>
      </p:sp>
      <p:pic>
        <p:nvPicPr>
          <p:cNvPr id="482" name="Google Shape;48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213" y="607925"/>
            <a:ext cx="269557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76"/>
          <p:cNvSpPr/>
          <p:nvPr/>
        </p:nvSpPr>
        <p:spPr>
          <a:xfrm>
            <a:off x="5063125" y="2310450"/>
            <a:ext cx="542400" cy="261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7"/>
          <p:cNvSpPr txBox="1"/>
          <p:nvPr/>
        </p:nvSpPr>
        <p:spPr>
          <a:xfrm>
            <a:off x="847800" y="4081950"/>
            <a:ext cx="74484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5. </a:t>
            </a:r>
            <a:r>
              <a:rPr lang="ko">
                <a:solidFill>
                  <a:schemeClr val="dk1"/>
                </a:solidFill>
              </a:rPr>
              <a:t>각 슬라이더의 Surface에              버튼을 눌러 위의 그림1-1과 같은 창이 나타나면 원하는 연출 효과들을 추가해줍니다. </a:t>
            </a:r>
            <a:endParaRPr/>
          </a:p>
        </p:txBody>
      </p:sp>
      <p:pic>
        <p:nvPicPr>
          <p:cNvPr id="489" name="Google Shape;48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600" y="4081950"/>
            <a:ext cx="524775" cy="38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3050" y="1822525"/>
            <a:ext cx="2630625" cy="210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0000" y="1822525"/>
            <a:ext cx="2630625" cy="2104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0000" y="506175"/>
            <a:ext cx="2733675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77"/>
          <p:cNvSpPr txBox="1"/>
          <p:nvPr/>
        </p:nvSpPr>
        <p:spPr>
          <a:xfrm>
            <a:off x="2119188" y="1386200"/>
            <a:ext cx="11553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그림 1-1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8"/>
          <p:cNvSpPr txBox="1"/>
          <p:nvPr/>
        </p:nvSpPr>
        <p:spPr>
          <a:xfrm>
            <a:off x="956825" y="4033500"/>
            <a:ext cx="70923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6. </a:t>
            </a:r>
            <a:r>
              <a:rPr lang="ko">
                <a:solidFill>
                  <a:schemeClr val="dk1"/>
                </a:solidFill>
              </a:rPr>
              <a:t>게시(Public) 버튼을 눌러 출력합니다.</a:t>
            </a:r>
            <a:endParaRPr/>
          </a:p>
        </p:txBody>
      </p:sp>
      <p:pic>
        <p:nvPicPr>
          <p:cNvPr id="499" name="Google Shape;499;p78" title="라이트폼 결과물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2500" y="4932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